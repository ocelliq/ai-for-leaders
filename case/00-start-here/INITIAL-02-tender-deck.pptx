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emf" ContentType="image/x-emf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r:id="rId10-created" id="256"/>
    <p:sldId r:id="rId11-created" id="257"/>
    <p:sldId r:id="rId12-created" id="25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8"/>
  </p:normalViewPr>
  <p:slideViewPr>
    <p:cSldViewPr snapToGrid="0">
      <p:cViewPr varScale="1">
        <p:scale>
          <a:sx n="81" d="100"/>
          <a:sy n="81" d="100"/>
        </p:scale>
        <p:origin x="206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ableStyles" Target="tableStyles.xml"/><Relationship Id="rId10-created" Type="http://schemas.openxmlformats.org/officeDocument/2006/relationships/slide" Target="slides/slide6.xml"/><Relationship Id="rId11-created" Type="http://schemas.openxmlformats.org/officeDocument/2006/relationships/slide" Target="slides/slide7.xml"/><Relationship Id="rId12-created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8251D2-2511-4289-9D0A-4DD21654B9DD}"/>
              </a:ext>
            </a:extLst>
          </p:cNvPr>
          <p:cNvSpPr/>
          <p:nvPr userDrawn="1"/>
        </p:nvSpPr>
        <p:spPr>
          <a:xfrm>
            <a:off x="-21571" y="-35558"/>
            <a:ext cx="4772216" cy="69291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/>
          </a:p>
        </p:txBody>
      </p:sp>
      <p:sp>
        <p:nvSpPr>
          <p:cNvPr id="26" name="Picture Placeholder 5">
            <a:extLst>
              <a:ext uri="{FF2B5EF4-FFF2-40B4-BE49-F238E27FC236}">
                <a16:creationId xmlns:a16="http://schemas.microsoft.com/office/drawing/2014/main" id="{25171BD9-438B-C340-4B6F-52ACC829911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50646" y="0"/>
            <a:ext cx="7441353" cy="6929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0" tIns="0" rIns="0" bIns="9000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333" b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 Click icon to insert image</a:t>
            </a:r>
          </a:p>
        </p:txBody>
      </p:sp>
      <p:sp>
        <p:nvSpPr>
          <p:cNvPr id="9" name="Text Placeholder 24">
            <a:extLst>
              <a:ext uri="{FF2B5EF4-FFF2-40B4-BE49-F238E27FC236}">
                <a16:creationId xmlns:a16="http://schemas.microsoft.com/office/drawing/2014/main" id="{5D1976F4-F620-4E3B-7930-BD424D122A61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34569" y="5682895"/>
            <a:ext cx="3434439" cy="984885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GB" dirty="0"/>
              <a:t>Name of presenter </a:t>
            </a:r>
            <a:r>
              <a:rPr lang="en-US" sz="1600" b="0" dirty="0">
                <a:solidFill>
                  <a:schemeClr val="bg1"/>
                </a:solidFill>
                <a:latin typeface="Open Sans 2"/>
                <a:ea typeface="Open Sans 2"/>
                <a:cs typeface="Open Sans 2"/>
                <a:sym typeface="Open Sans 2"/>
              </a:rPr>
              <a:t>Designation(s)/Department(s)      Date                     (Security/Sensitivity) Classification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8AF469-9503-0765-4F71-CA4E54734D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4569" y="1793942"/>
            <a:ext cx="4059936" cy="229780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733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Title: First Line,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Second Line, 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Open Sans Bold, 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36pt</a:t>
            </a: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8D21143B-9DB6-0751-9642-862106981A53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335416" y="4237561"/>
            <a:ext cx="4059767" cy="738664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GB" dirty="0"/>
              <a:t>Sub-title: Open Sans, regular, 24pt, left align</a:t>
            </a:r>
          </a:p>
        </p:txBody>
      </p:sp>
      <p:sp>
        <p:nvSpPr>
          <p:cNvPr id="27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26863632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aragrap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08F208A4-2027-EB03-FE12-CA123B46CAA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8335" y="1203452"/>
            <a:ext cx="10079999" cy="480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200"/>
              </a:spcBef>
              <a:buNone/>
              <a:defRPr lang="en-SG" sz="2000" b="0" i="0" smtClean="0">
                <a:effectLst/>
              </a:defRPr>
            </a:lvl1pPr>
          </a:lstStyle>
          <a:p>
            <a:r>
              <a:rPr lang="en-SG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Paragraph: Open Sans, regular 20pt, left align, maximum 170 words</a:t>
            </a:r>
            <a:endParaRPr lang="en-SG" b="0" i="0" dirty="0">
              <a:solidFill>
                <a:srgbClr val="424D61"/>
              </a:solidFill>
              <a:effectLst/>
              <a:latin typeface="Helvetica" pitchFamily="2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D0D2D4E9-4EF5-3F09-B66A-05A31EC77F2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28332" y="339452"/>
            <a:ext cx="10080000" cy="48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buNone/>
              <a:defRPr sz="28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2pPr>
            <a:lvl3pPr marL="914377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3pPr>
            <a:lvl4pPr marL="1371566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4pPr>
            <a:lvl5pPr marL="1828754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5pPr>
          </a:lstStyle>
          <a:p>
            <a:pPr lvl="0"/>
            <a:r>
              <a:rPr lang="en-GB" dirty="0"/>
              <a:t>Content 1 – Paragraph: Open Sans, bold 28pt, left align</a:t>
            </a:r>
            <a:endParaRPr lang="en-US" dirty="0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5D1E752A-6C6B-E967-3218-57F6D37E49FB}"/>
              </a:ext>
            </a:extLst>
          </p:cNvPr>
          <p:cNvSpPr txBox="1">
            <a:spLocks/>
          </p:cNvSpPr>
          <p:nvPr userDrawn="1"/>
        </p:nvSpPr>
        <p:spPr>
          <a:xfrm>
            <a:off x="239999" y="651854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5E97092-FB62-2940-BF72-90FEE759286B}" type="slidenum">
              <a:rPr lang="en-US" sz="800" smtClean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800" dirty="0">
              <a:solidFill>
                <a:schemeClr val="bg2">
                  <a:lumMod val="50000"/>
                  <a:alpha val="61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73E8E0B4-23A5-14AA-B5CE-A8D2917A6C62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558174" y="6518548"/>
            <a:ext cx="4876800" cy="17708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(Security / Sensitivity) Classification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F8BDEB36-659E-42FC-4B39-5388CA288EC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540547" y="6510274"/>
            <a:ext cx="4301897" cy="193627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Source/Reference:</a:t>
            </a:r>
          </a:p>
        </p:txBody>
      </p:sp>
      <p:sp>
        <p:nvSpPr>
          <p:cNvPr id="10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3996674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: Emp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E22C5E3-7B3C-57D5-17CC-6B9183211A8A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29336" y="336000"/>
            <a:ext cx="10914963" cy="48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buNone/>
              <a:defRPr sz="28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2pPr>
            <a:lvl3pPr marL="914377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3pPr>
            <a:lvl4pPr marL="1371566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4pPr>
            <a:lvl5pPr marL="1828754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5pPr>
          </a:lstStyle>
          <a:p>
            <a:pPr lvl="0"/>
            <a:r>
              <a:rPr lang="en-GB" dirty="0"/>
              <a:t>Content 6 – Empty: Open Sans, bold 28pt, left align</a:t>
            </a:r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162CABB7-54C7-824C-E165-1D2486DBBC5C}"/>
              </a:ext>
            </a:extLst>
          </p:cNvPr>
          <p:cNvSpPr txBox="1">
            <a:spLocks/>
          </p:cNvSpPr>
          <p:nvPr userDrawn="1"/>
        </p:nvSpPr>
        <p:spPr>
          <a:xfrm>
            <a:off x="239999" y="651854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5E97092-FB62-2940-BF72-90FEE759286B}" type="slidenum">
              <a:rPr lang="en-US" sz="800" smtClean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800" dirty="0">
              <a:solidFill>
                <a:schemeClr val="bg2">
                  <a:lumMod val="50000"/>
                  <a:alpha val="61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49534EE1-3333-96D7-8107-389641F38A5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558174" y="6518548"/>
            <a:ext cx="4876800" cy="17708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(Security / Sensitivity) Classification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89855949-E09D-EFBD-550A-46D66B0B87A1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540547" y="6510274"/>
            <a:ext cx="4301897" cy="193627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Source/Reference:</a:t>
            </a:r>
          </a:p>
        </p:txBody>
      </p:sp>
      <p:sp>
        <p:nvSpPr>
          <p:cNvPr id="13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2702799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199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667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cision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9336" y="336000"/>
            <a:ext cx="10914963" cy="4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One clear decision headline</a:t>
            </a:r>
          </a:p>
        </p:txBody>
      </p:sp>
      <p:sp>
        <p:nvSpPr>
          <p:cNvPr id="3" name="AUDIENCE"/>
          <p:cNvSpPr txBox="1"/>
          <p:nvPr/>
        </p:nvSpPr>
        <p:spPr>
          <a:xfrm>
            <a:off x="629336" y="852576"/>
            <a:ext cx="10914963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Audience / decision owner</a:t>
            </a:r>
          </a:p>
        </p:txBody>
      </p:sp>
      <p:sp>
        <p:nvSpPr>
          <p:cNvPr id="4" name="RECOMMENDATION_PANEL"/>
          <p:cNvSpPr/>
          <p:nvPr/>
        </p:nvSpPr>
        <p:spPr>
          <a:xfrm>
            <a:off x="629336" y="1090320"/>
            <a:ext cx="10914963" cy="566928"/>
          </a:xfrm>
          <a:prstGeom prst="roundRect">
            <a:avLst>
              <a:gd name="adj" fmla="val 8000"/>
            </a:avLst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OMMENDATION_ACCENT"/>
          <p:cNvSpPr/>
          <p:nvPr/>
        </p:nvSpPr>
        <p:spPr>
          <a:xfrm>
            <a:off x="629336" y="1090320"/>
            <a:ext cx="82296" cy="566928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OMMENDATION"/>
          <p:cNvSpPr txBox="1"/>
          <p:nvPr/>
        </p:nvSpPr>
        <p:spPr>
          <a:xfrm>
            <a:off x="830504" y="1163472"/>
            <a:ext cx="10549203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Recommendation statement, based on verified evidence</a:t>
            </a:r>
          </a:p>
        </p:txBody>
      </p:sp>
      <p:sp>
        <p:nvSpPr>
          <p:cNvPr id="7" name="GATE_TABLE"/>
          <p:cNvSpPr txBox="1"/>
          <p:nvPr/>
        </p:nvSpPr>
        <p:spPr>
          <a:xfrm>
            <a:off x="629336" y="1858416"/>
            <a:ext cx="545748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MANDATORY COMPLIANCE</a:t>
            </a:r>
          </a:p>
        </p:txBody>
      </p:sp>
      <p:sp>
        <p:nvSpPr>
          <p:cNvPr id="8" name="COMPARISON_CHART"/>
          <p:cNvSpPr txBox="1"/>
          <p:nvPr/>
        </p:nvSpPr>
        <p:spPr>
          <a:xfrm>
            <a:off x="6315418" y="1858416"/>
            <a:ext cx="522888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SCORES AFTER GATE</a:t>
            </a:r>
          </a:p>
        </p:txBody>
      </p:sp>
      <p:sp>
        <p:nvSpPr>
          <p:cNvPr id="9" name="GATE_HEADER_BG"/>
          <p:cNvSpPr/>
          <p:nvPr/>
        </p:nvSpPr>
        <p:spPr>
          <a:xfrm>
            <a:off x="629336" y="2187600"/>
            <a:ext cx="5457482" cy="237744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GATE_VENDOR_HEADER"/>
          <p:cNvSpPr txBox="1"/>
          <p:nvPr/>
        </p:nvSpPr>
        <p:spPr>
          <a:xfrm>
            <a:off x="739064" y="2215032"/>
            <a:ext cx="1528095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1" name="GATE_STATUS_HEADER"/>
          <p:cNvSpPr txBox="1"/>
          <p:nvPr/>
        </p:nvSpPr>
        <p:spPr>
          <a:xfrm>
            <a:off x="2266581" y="2215032"/>
            <a:ext cx="54574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GATE</a:t>
            </a:r>
          </a:p>
        </p:txBody>
      </p:sp>
      <p:sp>
        <p:nvSpPr>
          <p:cNvPr id="12" name="GATE_REASON_HEADER"/>
          <p:cNvSpPr txBox="1"/>
          <p:nvPr/>
        </p:nvSpPr>
        <p:spPr>
          <a:xfrm>
            <a:off x="2921478" y="2215032"/>
            <a:ext cx="31653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DECISIVE BASIS</a:t>
            </a:r>
          </a:p>
        </p:txBody>
      </p:sp>
      <p:sp>
        <p:nvSpPr>
          <p:cNvPr id="13" name="GATE_ROW_1_BG"/>
          <p:cNvSpPr/>
          <p:nvPr/>
        </p:nvSpPr>
        <p:spPr>
          <a:xfrm>
            <a:off x="629336" y="2471064"/>
            <a:ext cx="545748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GATE_VENDOR_1"/>
          <p:cNvSpPr txBox="1"/>
          <p:nvPr/>
        </p:nvSpPr>
        <p:spPr>
          <a:xfrm>
            <a:off x="739064" y="2516784"/>
            <a:ext cx="1418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5" name="GATE_STATUS_1"/>
          <p:cNvSpPr txBox="1"/>
          <p:nvPr/>
        </p:nvSpPr>
        <p:spPr>
          <a:xfrm>
            <a:off x="2266581" y="2516784"/>
            <a:ext cx="5457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16" name="GATE_REASON_1"/>
          <p:cNvSpPr txBox="1"/>
          <p:nvPr/>
        </p:nvSpPr>
        <p:spPr>
          <a:xfrm>
            <a:off x="2921478" y="2516784"/>
            <a:ext cx="31653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17" name="GATE_ROW_2_BG"/>
          <p:cNvSpPr/>
          <p:nvPr/>
        </p:nvSpPr>
        <p:spPr>
          <a:xfrm>
            <a:off x="629336" y="2946552"/>
            <a:ext cx="5457482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GATE_VENDOR_2"/>
          <p:cNvSpPr txBox="1"/>
          <p:nvPr/>
        </p:nvSpPr>
        <p:spPr>
          <a:xfrm>
            <a:off x="739064" y="2992272"/>
            <a:ext cx="1418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9" name="GATE_STATUS_2"/>
          <p:cNvSpPr txBox="1"/>
          <p:nvPr/>
        </p:nvSpPr>
        <p:spPr>
          <a:xfrm>
            <a:off x="2266581" y="2992272"/>
            <a:ext cx="5457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0" name="GATE_REASON_2"/>
          <p:cNvSpPr txBox="1"/>
          <p:nvPr/>
        </p:nvSpPr>
        <p:spPr>
          <a:xfrm>
            <a:off x="2921478" y="2992272"/>
            <a:ext cx="31653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21" name="GATE_ROW_3_BG"/>
          <p:cNvSpPr/>
          <p:nvPr/>
        </p:nvSpPr>
        <p:spPr>
          <a:xfrm>
            <a:off x="629336" y="3422040"/>
            <a:ext cx="545748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GATE_VENDOR_3"/>
          <p:cNvSpPr txBox="1"/>
          <p:nvPr/>
        </p:nvSpPr>
        <p:spPr>
          <a:xfrm>
            <a:off x="739064" y="3467760"/>
            <a:ext cx="1418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23" name="GATE_STATUS_3"/>
          <p:cNvSpPr txBox="1"/>
          <p:nvPr/>
        </p:nvSpPr>
        <p:spPr>
          <a:xfrm>
            <a:off x="2266581" y="3467760"/>
            <a:ext cx="5457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4" name="GATE_REASON_3"/>
          <p:cNvSpPr txBox="1"/>
          <p:nvPr/>
        </p:nvSpPr>
        <p:spPr>
          <a:xfrm>
            <a:off x="2921478" y="3467760"/>
            <a:ext cx="31653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25" name="GATE_ROW_4_BG"/>
          <p:cNvSpPr/>
          <p:nvPr/>
        </p:nvSpPr>
        <p:spPr>
          <a:xfrm>
            <a:off x="629336" y="3897528"/>
            <a:ext cx="5457482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GATE_VENDOR_4"/>
          <p:cNvSpPr txBox="1"/>
          <p:nvPr/>
        </p:nvSpPr>
        <p:spPr>
          <a:xfrm>
            <a:off x="739064" y="3943248"/>
            <a:ext cx="1418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27" name="GATE_STATUS_4"/>
          <p:cNvSpPr txBox="1"/>
          <p:nvPr/>
        </p:nvSpPr>
        <p:spPr>
          <a:xfrm>
            <a:off x="2266581" y="3943248"/>
            <a:ext cx="5457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8" name="GATE_REASON_4"/>
          <p:cNvSpPr txBox="1"/>
          <p:nvPr/>
        </p:nvSpPr>
        <p:spPr>
          <a:xfrm>
            <a:off x="2921478" y="3943248"/>
            <a:ext cx="31653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29" name="GATE_ROW_5_BG"/>
          <p:cNvSpPr/>
          <p:nvPr/>
        </p:nvSpPr>
        <p:spPr>
          <a:xfrm>
            <a:off x="629336" y="4373016"/>
            <a:ext cx="545748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GATE_VENDOR_5"/>
          <p:cNvSpPr txBox="1"/>
          <p:nvPr/>
        </p:nvSpPr>
        <p:spPr>
          <a:xfrm>
            <a:off x="739064" y="4418736"/>
            <a:ext cx="141836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31" name="GATE_STATUS_5"/>
          <p:cNvSpPr txBox="1"/>
          <p:nvPr/>
        </p:nvSpPr>
        <p:spPr>
          <a:xfrm>
            <a:off x="2266581" y="4418736"/>
            <a:ext cx="5457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32" name="GATE_REASON_5"/>
          <p:cNvSpPr txBox="1"/>
          <p:nvPr/>
        </p:nvSpPr>
        <p:spPr>
          <a:xfrm>
            <a:off x="2921478" y="4418736"/>
            <a:ext cx="31653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33" name="COMPARISON_BG"/>
          <p:cNvSpPr/>
          <p:nvPr/>
        </p:nvSpPr>
        <p:spPr>
          <a:xfrm>
            <a:off x="6315418" y="2187600"/>
            <a:ext cx="5228881" cy="2660904"/>
          </a:xfrm>
          <a:prstGeom prst="roundRect">
            <a:avLst>
              <a:gd name="adj" fmla="val 8000"/>
            </a:avLst>
          </a:prstGeom>
          <a:solidFill>
            <a:srgbClr val="F8FA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SCORE_VENDOR_1"/>
          <p:cNvSpPr txBox="1"/>
          <p:nvPr/>
        </p:nvSpPr>
        <p:spPr>
          <a:xfrm>
            <a:off x="6461722" y="2297328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Compliant bid</a:t>
            </a:r>
          </a:p>
        </p:txBody>
      </p:sp>
      <p:sp>
        <p:nvSpPr>
          <p:cNvPr id="35" name="SCORE_TRACK_1"/>
          <p:cNvSpPr/>
          <p:nvPr/>
        </p:nvSpPr>
        <p:spPr>
          <a:xfrm>
            <a:off x="6461722" y="2544216"/>
            <a:ext cx="3811561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SCORE_BAR_1"/>
          <p:cNvSpPr/>
          <p:nvPr/>
        </p:nvSpPr>
        <p:spPr>
          <a:xfrm>
            <a:off x="6461722" y="2544216"/>
            <a:ext cx="2286937" cy="118872"/>
          </a:xfrm>
          <a:prstGeom prst="roundRect">
            <a:avLst>
              <a:gd name="adj" fmla="val 8000"/>
            </a:avLst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SCORE_VALUE_1"/>
          <p:cNvSpPr txBox="1"/>
          <p:nvPr/>
        </p:nvSpPr>
        <p:spPr>
          <a:xfrm>
            <a:off x="10319003" y="2498496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38" name="SCORE_LABEL_1"/>
          <p:cNvSpPr txBox="1"/>
          <p:nvPr/>
        </p:nvSpPr>
        <p:spPr>
          <a:xfrm>
            <a:off x="6461722" y="2699664"/>
            <a:ext cx="4908841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Evaluated price / context</a:t>
            </a:r>
          </a:p>
        </p:txBody>
      </p:sp>
      <p:sp>
        <p:nvSpPr>
          <p:cNvPr id="39" name="SCORE_VENDOR_2"/>
          <p:cNvSpPr txBox="1"/>
          <p:nvPr/>
        </p:nvSpPr>
        <p:spPr>
          <a:xfrm>
            <a:off x="6461722" y="3138576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Compliant bid</a:t>
            </a:r>
          </a:p>
        </p:txBody>
      </p:sp>
      <p:sp>
        <p:nvSpPr>
          <p:cNvPr id="40" name="SCORE_TRACK_2"/>
          <p:cNvSpPr/>
          <p:nvPr/>
        </p:nvSpPr>
        <p:spPr>
          <a:xfrm>
            <a:off x="6461722" y="3385464"/>
            <a:ext cx="3811561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SCORE_BAR_2"/>
          <p:cNvSpPr/>
          <p:nvPr/>
        </p:nvSpPr>
        <p:spPr>
          <a:xfrm>
            <a:off x="6461722" y="3385464"/>
            <a:ext cx="1829549" cy="118872"/>
          </a:xfrm>
          <a:prstGeom prst="roundRect">
            <a:avLst>
              <a:gd name="adj" fmla="val 8000"/>
            </a:avLst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SCORE_VALUE_2"/>
          <p:cNvSpPr txBox="1"/>
          <p:nvPr/>
        </p:nvSpPr>
        <p:spPr>
          <a:xfrm>
            <a:off x="10319003" y="3339744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43" name="SCORE_LABEL_2"/>
          <p:cNvSpPr txBox="1"/>
          <p:nvPr/>
        </p:nvSpPr>
        <p:spPr>
          <a:xfrm>
            <a:off x="6461722" y="3540912"/>
            <a:ext cx="4908841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Evaluated price / context</a:t>
            </a:r>
          </a:p>
        </p:txBody>
      </p:sp>
      <p:sp>
        <p:nvSpPr>
          <p:cNvPr id="44" name="SCORE_VENDOR_3"/>
          <p:cNvSpPr txBox="1"/>
          <p:nvPr/>
        </p:nvSpPr>
        <p:spPr>
          <a:xfrm>
            <a:off x="6461722" y="3979824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Compliant bid</a:t>
            </a:r>
          </a:p>
        </p:txBody>
      </p:sp>
      <p:sp>
        <p:nvSpPr>
          <p:cNvPr id="45" name="SCORE_TRACK_3"/>
          <p:cNvSpPr/>
          <p:nvPr/>
        </p:nvSpPr>
        <p:spPr>
          <a:xfrm>
            <a:off x="6461722" y="4226712"/>
            <a:ext cx="3811561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SCORE_BAR_3"/>
          <p:cNvSpPr/>
          <p:nvPr/>
        </p:nvSpPr>
        <p:spPr>
          <a:xfrm>
            <a:off x="6461722" y="4226712"/>
            <a:ext cx="1372162" cy="118872"/>
          </a:xfrm>
          <a:prstGeom prst="roundRect">
            <a:avLst>
              <a:gd name="adj" fmla="val 8000"/>
            </a:avLst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SCORE_VALUE_3"/>
          <p:cNvSpPr txBox="1"/>
          <p:nvPr/>
        </p:nvSpPr>
        <p:spPr>
          <a:xfrm>
            <a:off x="10319003" y="418099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48" name="SCORE_LABEL_3"/>
          <p:cNvSpPr txBox="1"/>
          <p:nvPr/>
        </p:nvSpPr>
        <p:spPr>
          <a:xfrm>
            <a:off x="6461722" y="4382160"/>
            <a:ext cx="4908841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Evaluated price / context</a:t>
            </a:r>
          </a:p>
        </p:txBody>
      </p:sp>
      <p:sp>
        <p:nvSpPr>
          <p:cNvPr id="49" name="DECISION_PANEL"/>
          <p:cNvSpPr/>
          <p:nvPr/>
        </p:nvSpPr>
        <p:spPr>
          <a:xfrm>
            <a:off x="629336" y="5013096"/>
            <a:ext cx="10914963" cy="530352"/>
          </a:xfrm>
          <a:prstGeom prst="roundRect">
            <a:avLst>
              <a:gd name="adj" fmla="val 8000"/>
            </a:avLst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DECISION"/>
          <p:cNvSpPr txBox="1"/>
          <p:nvPr/>
        </p:nvSpPr>
        <p:spPr>
          <a:xfrm>
            <a:off x="830504" y="5113680"/>
            <a:ext cx="10549203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i="0" dirty="0">
                <a:solidFill>
                  <a:srgbClr val="FFFFFF"/>
                </a:solidFill>
                <a:latin typeface="Open Sans" panose="020B0606030504020204" pitchFamily="34" charset="0"/>
              </a:rPr>
              <a:t>Approval or next action requested</a:t>
            </a:r>
          </a:p>
        </p:txBody>
      </p:sp>
      <p:sp>
        <p:nvSpPr>
          <p:cNvPr id="51" name="SOURCE_NOTES"/>
          <p:cNvSpPr txBox="1"/>
          <p:nvPr/>
        </p:nvSpPr>
        <p:spPr>
          <a:xfrm>
            <a:off x="629336" y="5689752"/>
            <a:ext cx="1091496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Sources: document ID and exact locator. Fictional training case.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ate_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9336" y="336000"/>
            <a:ext cx="10914963" cy="4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One clear decision headline</a:t>
            </a:r>
          </a:p>
        </p:txBody>
      </p:sp>
      <p:sp>
        <p:nvSpPr>
          <p:cNvPr id="3" name="AUDIENCE"/>
          <p:cNvSpPr txBox="1"/>
          <p:nvPr/>
        </p:nvSpPr>
        <p:spPr>
          <a:xfrm>
            <a:off x="629336" y="852576"/>
            <a:ext cx="10914963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Audience / decision owner</a:t>
            </a:r>
          </a:p>
        </p:txBody>
      </p:sp>
      <p:sp>
        <p:nvSpPr>
          <p:cNvPr id="4" name="RECOMMENDATION_PANEL"/>
          <p:cNvSpPr/>
          <p:nvPr/>
        </p:nvSpPr>
        <p:spPr>
          <a:xfrm>
            <a:off x="629336" y="1090320"/>
            <a:ext cx="10914963" cy="566928"/>
          </a:xfrm>
          <a:prstGeom prst="roundRect">
            <a:avLst>
              <a:gd name="adj" fmla="val 8000"/>
            </a:avLst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OMMENDATION_ACCENT"/>
          <p:cNvSpPr/>
          <p:nvPr/>
        </p:nvSpPr>
        <p:spPr>
          <a:xfrm>
            <a:off x="629336" y="1090320"/>
            <a:ext cx="82296" cy="566928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OMMENDATION"/>
          <p:cNvSpPr txBox="1"/>
          <p:nvPr/>
        </p:nvSpPr>
        <p:spPr>
          <a:xfrm>
            <a:off x="830504" y="1163472"/>
            <a:ext cx="10549203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Recommendation statement, based on verified evidence</a:t>
            </a:r>
          </a:p>
        </p:txBody>
      </p:sp>
      <p:sp>
        <p:nvSpPr>
          <p:cNvPr id="7" name="GATE_TABLE"/>
          <p:cNvSpPr txBox="1"/>
          <p:nvPr/>
        </p:nvSpPr>
        <p:spPr>
          <a:xfrm>
            <a:off x="629336" y="1858416"/>
            <a:ext cx="676727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MANDATORY COMPLIANCE</a:t>
            </a:r>
          </a:p>
        </p:txBody>
      </p:sp>
      <p:sp>
        <p:nvSpPr>
          <p:cNvPr id="8" name="COMPARISON_CHART"/>
          <p:cNvSpPr txBox="1"/>
          <p:nvPr/>
        </p:nvSpPr>
        <p:spPr>
          <a:xfrm>
            <a:off x="7625213" y="1858416"/>
            <a:ext cx="391908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SCORES AFTER GATE</a:t>
            </a:r>
          </a:p>
        </p:txBody>
      </p:sp>
      <p:sp>
        <p:nvSpPr>
          <p:cNvPr id="9" name="GATE_HEADER_BG"/>
          <p:cNvSpPr/>
          <p:nvPr/>
        </p:nvSpPr>
        <p:spPr>
          <a:xfrm>
            <a:off x="629336" y="2187600"/>
            <a:ext cx="6767277" cy="237744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GATE_VENDOR_HEADER"/>
          <p:cNvSpPr txBox="1"/>
          <p:nvPr/>
        </p:nvSpPr>
        <p:spPr>
          <a:xfrm>
            <a:off x="739064" y="2215032"/>
            <a:ext cx="189483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1" name="GATE_STATUS_HEADER"/>
          <p:cNvSpPr txBox="1"/>
          <p:nvPr/>
        </p:nvSpPr>
        <p:spPr>
          <a:xfrm>
            <a:off x="2659519" y="2215032"/>
            <a:ext cx="67672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GATE</a:t>
            </a:r>
          </a:p>
        </p:txBody>
      </p:sp>
      <p:sp>
        <p:nvSpPr>
          <p:cNvPr id="12" name="GATE_REASON_HEADER"/>
          <p:cNvSpPr txBox="1"/>
          <p:nvPr/>
        </p:nvSpPr>
        <p:spPr>
          <a:xfrm>
            <a:off x="3471592" y="2215032"/>
            <a:ext cx="3925021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DECISIVE BASIS</a:t>
            </a:r>
          </a:p>
        </p:txBody>
      </p:sp>
      <p:sp>
        <p:nvSpPr>
          <p:cNvPr id="13" name="GATE_ROW_1_BG"/>
          <p:cNvSpPr/>
          <p:nvPr/>
        </p:nvSpPr>
        <p:spPr>
          <a:xfrm>
            <a:off x="629336" y="2471064"/>
            <a:ext cx="6767277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GATE_VENDOR_1"/>
          <p:cNvSpPr txBox="1"/>
          <p:nvPr/>
        </p:nvSpPr>
        <p:spPr>
          <a:xfrm>
            <a:off x="739064" y="2516784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5" name="GATE_STATUS_1"/>
          <p:cNvSpPr txBox="1"/>
          <p:nvPr/>
        </p:nvSpPr>
        <p:spPr>
          <a:xfrm>
            <a:off x="2659519" y="2516784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16" name="GATE_REASON_1"/>
          <p:cNvSpPr txBox="1"/>
          <p:nvPr/>
        </p:nvSpPr>
        <p:spPr>
          <a:xfrm>
            <a:off x="3471592" y="2516784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17" name="GATE_ROW_2_BG"/>
          <p:cNvSpPr/>
          <p:nvPr/>
        </p:nvSpPr>
        <p:spPr>
          <a:xfrm>
            <a:off x="629336" y="2946552"/>
            <a:ext cx="6767277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GATE_VENDOR_2"/>
          <p:cNvSpPr txBox="1"/>
          <p:nvPr/>
        </p:nvSpPr>
        <p:spPr>
          <a:xfrm>
            <a:off x="739064" y="2992272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9" name="GATE_STATUS_2"/>
          <p:cNvSpPr txBox="1"/>
          <p:nvPr/>
        </p:nvSpPr>
        <p:spPr>
          <a:xfrm>
            <a:off x="2659519" y="2992272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0" name="GATE_REASON_2"/>
          <p:cNvSpPr txBox="1"/>
          <p:nvPr/>
        </p:nvSpPr>
        <p:spPr>
          <a:xfrm>
            <a:off x="3471592" y="2992272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21" name="GATE_ROW_3_BG"/>
          <p:cNvSpPr/>
          <p:nvPr/>
        </p:nvSpPr>
        <p:spPr>
          <a:xfrm>
            <a:off x="629336" y="3422040"/>
            <a:ext cx="6767277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GATE_VENDOR_3"/>
          <p:cNvSpPr txBox="1"/>
          <p:nvPr/>
        </p:nvSpPr>
        <p:spPr>
          <a:xfrm>
            <a:off x="739064" y="3467760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23" name="GATE_STATUS_3"/>
          <p:cNvSpPr txBox="1"/>
          <p:nvPr/>
        </p:nvSpPr>
        <p:spPr>
          <a:xfrm>
            <a:off x="2659519" y="3467760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4" name="GATE_REASON_3"/>
          <p:cNvSpPr txBox="1"/>
          <p:nvPr/>
        </p:nvSpPr>
        <p:spPr>
          <a:xfrm>
            <a:off x="3471592" y="3467760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25" name="GATE_ROW_4_BG"/>
          <p:cNvSpPr/>
          <p:nvPr/>
        </p:nvSpPr>
        <p:spPr>
          <a:xfrm>
            <a:off x="629336" y="3897528"/>
            <a:ext cx="6767277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GATE_VENDOR_4"/>
          <p:cNvSpPr txBox="1"/>
          <p:nvPr/>
        </p:nvSpPr>
        <p:spPr>
          <a:xfrm>
            <a:off x="739064" y="3943248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27" name="GATE_STATUS_4"/>
          <p:cNvSpPr txBox="1"/>
          <p:nvPr/>
        </p:nvSpPr>
        <p:spPr>
          <a:xfrm>
            <a:off x="2659519" y="3943248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8" name="GATE_REASON_4"/>
          <p:cNvSpPr txBox="1"/>
          <p:nvPr/>
        </p:nvSpPr>
        <p:spPr>
          <a:xfrm>
            <a:off x="3471592" y="3943248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29" name="GATE_ROW_5_BG"/>
          <p:cNvSpPr/>
          <p:nvPr/>
        </p:nvSpPr>
        <p:spPr>
          <a:xfrm>
            <a:off x="629336" y="4373016"/>
            <a:ext cx="6767277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GATE_VENDOR_5"/>
          <p:cNvSpPr txBox="1"/>
          <p:nvPr/>
        </p:nvSpPr>
        <p:spPr>
          <a:xfrm>
            <a:off x="739064" y="4418736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31" name="GATE_STATUS_5"/>
          <p:cNvSpPr txBox="1"/>
          <p:nvPr/>
        </p:nvSpPr>
        <p:spPr>
          <a:xfrm>
            <a:off x="2659519" y="4418736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32" name="GATE_REASON_5"/>
          <p:cNvSpPr txBox="1"/>
          <p:nvPr/>
        </p:nvSpPr>
        <p:spPr>
          <a:xfrm>
            <a:off x="3471592" y="4418736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Requirement / source status</a:t>
            </a:r>
          </a:p>
        </p:txBody>
      </p:sp>
      <p:sp>
        <p:nvSpPr>
          <p:cNvPr id="33" name="COMPARISON_BG"/>
          <p:cNvSpPr/>
          <p:nvPr/>
        </p:nvSpPr>
        <p:spPr>
          <a:xfrm>
            <a:off x="7625213" y="2187600"/>
            <a:ext cx="3919086" cy="2660904"/>
          </a:xfrm>
          <a:prstGeom prst="roundRect">
            <a:avLst>
              <a:gd name="adj" fmla="val 8000"/>
            </a:avLst>
          </a:prstGeom>
          <a:solidFill>
            <a:srgbClr val="F8FA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SCORE_VENDOR_1"/>
          <p:cNvSpPr txBox="1"/>
          <p:nvPr/>
        </p:nvSpPr>
        <p:spPr>
          <a:xfrm>
            <a:off x="7771517" y="2297328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Compliant bid</a:t>
            </a:r>
          </a:p>
        </p:txBody>
      </p:sp>
      <p:sp>
        <p:nvSpPr>
          <p:cNvPr id="35" name="SCORE_TRACK_1"/>
          <p:cNvSpPr/>
          <p:nvPr/>
        </p:nvSpPr>
        <p:spPr>
          <a:xfrm>
            <a:off x="7771517" y="2544216"/>
            <a:ext cx="2501766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SCORE_BAR_1"/>
          <p:cNvSpPr/>
          <p:nvPr/>
        </p:nvSpPr>
        <p:spPr>
          <a:xfrm>
            <a:off x="7771517" y="2544216"/>
            <a:ext cx="1501060" cy="118872"/>
          </a:xfrm>
          <a:prstGeom prst="roundRect">
            <a:avLst>
              <a:gd name="adj" fmla="val 8000"/>
            </a:avLst>
          </a:prstGeom>
          <a:solidFill>
            <a:srgbClr val="FF67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SCORE_VALUE_1"/>
          <p:cNvSpPr txBox="1"/>
          <p:nvPr/>
        </p:nvSpPr>
        <p:spPr>
          <a:xfrm>
            <a:off x="10319003" y="2498496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38" name="SCORE_LABEL_1"/>
          <p:cNvSpPr txBox="1"/>
          <p:nvPr/>
        </p:nvSpPr>
        <p:spPr>
          <a:xfrm>
            <a:off x="7771517" y="2699664"/>
            <a:ext cx="359904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Evaluated price / context</a:t>
            </a:r>
          </a:p>
        </p:txBody>
      </p:sp>
      <p:sp>
        <p:nvSpPr>
          <p:cNvPr id="39" name="SCORE_VENDOR_2"/>
          <p:cNvSpPr txBox="1"/>
          <p:nvPr/>
        </p:nvSpPr>
        <p:spPr>
          <a:xfrm>
            <a:off x="7771517" y="3138576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Compliant bid</a:t>
            </a:r>
          </a:p>
        </p:txBody>
      </p:sp>
      <p:sp>
        <p:nvSpPr>
          <p:cNvPr id="40" name="SCORE_TRACK_2"/>
          <p:cNvSpPr/>
          <p:nvPr/>
        </p:nvSpPr>
        <p:spPr>
          <a:xfrm>
            <a:off x="7771517" y="3385464"/>
            <a:ext cx="2501766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SCORE_BAR_2"/>
          <p:cNvSpPr/>
          <p:nvPr/>
        </p:nvSpPr>
        <p:spPr>
          <a:xfrm>
            <a:off x="7771517" y="3385464"/>
            <a:ext cx="1200848" cy="118872"/>
          </a:xfrm>
          <a:prstGeom prst="roundRect">
            <a:avLst>
              <a:gd name="adj" fmla="val 8000"/>
            </a:avLst>
          </a:prstGeom>
          <a:solidFill>
            <a:srgbClr val="FF67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SCORE_VALUE_2"/>
          <p:cNvSpPr txBox="1"/>
          <p:nvPr/>
        </p:nvSpPr>
        <p:spPr>
          <a:xfrm>
            <a:off x="10319003" y="3339744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43" name="SCORE_LABEL_2"/>
          <p:cNvSpPr txBox="1"/>
          <p:nvPr/>
        </p:nvSpPr>
        <p:spPr>
          <a:xfrm>
            <a:off x="7771517" y="3540912"/>
            <a:ext cx="359904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Evaluated price / context</a:t>
            </a:r>
          </a:p>
        </p:txBody>
      </p:sp>
      <p:sp>
        <p:nvSpPr>
          <p:cNvPr id="44" name="SCORE_VENDOR_3"/>
          <p:cNvSpPr txBox="1"/>
          <p:nvPr/>
        </p:nvSpPr>
        <p:spPr>
          <a:xfrm>
            <a:off x="7771517" y="3979824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Compliant bid</a:t>
            </a:r>
          </a:p>
        </p:txBody>
      </p:sp>
      <p:sp>
        <p:nvSpPr>
          <p:cNvPr id="45" name="SCORE_TRACK_3"/>
          <p:cNvSpPr/>
          <p:nvPr/>
        </p:nvSpPr>
        <p:spPr>
          <a:xfrm>
            <a:off x="7771517" y="4226712"/>
            <a:ext cx="2501766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SCORE_BAR_3"/>
          <p:cNvSpPr/>
          <p:nvPr/>
        </p:nvSpPr>
        <p:spPr>
          <a:xfrm>
            <a:off x="7771517" y="4226712"/>
            <a:ext cx="900636" cy="118872"/>
          </a:xfrm>
          <a:prstGeom prst="roundRect">
            <a:avLst>
              <a:gd name="adj" fmla="val 8000"/>
            </a:avLst>
          </a:prstGeom>
          <a:solidFill>
            <a:srgbClr val="FF67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SCORE_VALUE_3"/>
          <p:cNvSpPr txBox="1"/>
          <p:nvPr/>
        </p:nvSpPr>
        <p:spPr>
          <a:xfrm>
            <a:off x="10319003" y="418099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48" name="SCORE_LABEL_3"/>
          <p:cNvSpPr txBox="1"/>
          <p:nvPr/>
        </p:nvSpPr>
        <p:spPr>
          <a:xfrm>
            <a:off x="7771517" y="4382160"/>
            <a:ext cx="359904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Evaluated price / context</a:t>
            </a:r>
          </a:p>
        </p:txBody>
      </p:sp>
      <p:sp>
        <p:nvSpPr>
          <p:cNvPr id="49" name="DECISION_PANEL"/>
          <p:cNvSpPr/>
          <p:nvPr/>
        </p:nvSpPr>
        <p:spPr>
          <a:xfrm>
            <a:off x="629336" y="5013096"/>
            <a:ext cx="10914963" cy="530352"/>
          </a:xfrm>
          <a:prstGeom prst="roundRect">
            <a:avLst>
              <a:gd name="adj" fmla="val 8000"/>
            </a:avLst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DECISION"/>
          <p:cNvSpPr txBox="1"/>
          <p:nvPr/>
        </p:nvSpPr>
        <p:spPr>
          <a:xfrm>
            <a:off x="830504" y="5113680"/>
            <a:ext cx="10549203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i="0" dirty="0">
                <a:solidFill>
                  <a:srgbClr val="FFFFFF"/>
                </a:solidFill>
                <a:latin typeface="Open Sans" panose="020B0606030504020204" pitchFamily="34" charset="0"/>
              </a:rPr>
              <a:t>Approval or next action requested</a:t>
            </a:r>
          </a:p>
        </p:txBody>
      </p:sp>
      <p:sp>
        <p:nvSpPr>
          <p:cNvPr id="51" name="SOURCE_NOTES"/>
          <p:cNvSpPr txBox="1"/>
          <p:nvPr/>
        </p:nvSpPr>
        <p:spPr>
          <a:xfrm>
            <a:off x="629336" y="5689752"/>
            <a:ext cx="1091496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Sources: document ID and exact locator. Fictional training case.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8332" y="339452"/>
            <a:ext cx="10080000" cy="4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One clear decision headline</a:t>
            </a:r>
          </a:p>
        </p:txBody>
      </p:sp>
      <p:sp>
        <p:nvSpPr>
          <p:cNvPr id="3" name="AUDIENCE"/>
          <p:cNvSpPr txBox="1"/>
          <p:nvPr/>
        </p:nvSpPr>
        <p:spPr>
          <a:xfrm>
            <a:off x="628332" y="856028"/>
            <a:ext cx="100800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Audience / decision owner</a:t>
            </a:r>
          </a:p>
        </p:txBody>
      </p:sp>
      <p:sp>
        <p:nvSpPr>
          <p:cNvPr id="4" name="PROBLEM"/>
          <p:cNvSpPr txBox="1"/>
          <p:nvPr/>
        </p:nvSpPr>
        <p:spPr>
          <a:xfrm>
            <a:off x="628335" y="1075484"/>
            <a:ext cx="10079999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The procurement problem this evaluation must resolve, in one paragraph.</a:t>
            </a:r>
          </a:p>
        </p:txBody>
      </p:sp>
      <p:sp>
        <p:nvSpPr>
          <p:cNvPr id="5" name="GATES_HEADER"/>
          <p:cNvSpPr txBox="1"/>
          <p:nvPr/>
        </p:nvSpPr>
        <p:spPr>
          <a:xfrm>
            <a:off x="628335" y="2145332"/>
            <a:ext cx="605117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MANDATORY GATES (M1–M7)</a:t>
            </a:r>
          </a:p>
        </p:txBody>
      </p:sp>
      <p:sp>
        <p:nvSpPr>
          <p:cNvPr id="6" name="CRITERIA_HEADER"/>
          <p:cNvSpPr txBox="1"/>
          <p:nvPr/>
        </p:nvSpPr>
        <p:spPr>
          <a:xfrm>
            <a:off x="6999550" y="2145332"/>
            <a:ext cx="370878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WEIGHTED SCORING CRITERIA</a:t>
            </a:r>
          </a:p>
        </p:txBody>
      </p:sp>
      <p:sp>
        <p:nvSpPr>
          <p:cNvPr id="7" name="GATE_LINE_1"/>
          <p:cNvSpPr txBox="1"/>
          <p:nvPr/>
        </p:nvSpPr>
        <p:spPr>
          <a:xfrm>
            <a:off x="628335" y="2419652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M1: mandatory requirement text</a:t>
            </a:r>
          </a:p>
        </p:txBody>
      </p:sp>
      <p:sp>
        <p:nvSpPr>
          <p:cNvPr id="8" name="GATE_LINE_2"/>
          <p:cNvSpPr txBox="1"/>
          <p:nvPr/>
        </p:nvSpPr>
        <p:spPr>
          <a:xfrm>
            <a:off x="628335" y="2803700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M2: mandatory requirement text</a:t>
            </a:r>
          </a:p>
        </p:txBody>
      </p:sp>
      <p:sp>
        <p:nvSpPr>
          <p:cNvPr id="9" name="GATE_LINE_3"/>
          <p:cNvSpPr txBox="1"/>
          <p:nvPr/>
        </p:nvSpPr>
        <p:spPr>
          <a:xfrm>
            <a:off x="628335" y="3187748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M3: mandatory requirement text</a:t>
            </a:r>
          </a:p>
        </p:txBody>
      </p:sp>
      <p:sp>
        <p:nvSpPr>
          <p:cNvPr id="10" name="GATE_LINE_4"/>
          <p:cNvSpPr txBox="1"/>
          <p:nvPr/>
        </p:nvSpPr>
        <p:spPr>
          <a:xfrm>
            <a:off x="628335" y="3571796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M4: mandatory requirement text</a:t>
            </a:r>
          </a:p>
        </p:txBody>
      </p:sp>
      <p:sp>
        <p:nvSpPr>
          <p:cNvPr id="11" name="GATE_LINE_5"/>
          <p:cNvSpPr txBox="1"/>
          <p:nvPr/>
        </p:nvSpPr>
        <p:spPr>
          <a:xfrm>
            <a:off x="628335" y="3955844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M5: mandatory requirement text</a:t>
            </a:r>
          </a:p>
        </p:txBody>
      </p:sp>
      <p:sp>
        <p:nvSpPr>
          <p:cNvPr id="12" name="GATE_LINE_6"/>
          <p:cNvSpPr txBox="1"/>
          <p:nvPr/>
        </p:nvSpPr>
        <p:spPr>
          <a:xfrm>
            <a:off x="628335" y="4339892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M6: mandatory requirement text</a:t>
            </a:r>
          </a:p>
        </p:txBody>
      </p:sp>
      <p:sp>
        <p:nvSpPr>
          <p:cNvPr id="13" name="GATE_LINE_7"/>
          <p:cNvSpPr txBox="1"/>
          <p:nvPr/>
        </p:nvSpPr>
        <p:spPr>
          <a:xfrm>
            <a:off x="628335" y="4723940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M7: mandatory requirement text</a:t>
            </a:r>
          </a:p>
        </p:txBody>
      </p:sp>
      <p:sp>
        <p:nvSpPr>
          <p:cNvPr id="14" name="CRITERION_ROW_1_BG"/>
          <p:cNvSpPr/>
          <p:nvPr/>
        </p:nvSpPr>
        <p:spPr>
          <a:xfrm>
            <a:off x="6999550" y="2419652"/>
            <a:ext cx="3708784" cy="521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CRITERION_NAME_1"/>
          <p:cNvSpPr txBox="1"/>
          <p:nvPr/>
        </p:nvSpPr>
        <p:spPr>
          <a:xfrm>
            <a:off x="7090990" y="2474516"/>
            <a:ext cx="252197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Criterion name</a:t>
            </a:r>
          </a:p>
        </p:txBody>
      </p:sp>
      <p:sp>
        <p:nvSpPr>
          <p:cNvPr id="16" name="CRITERION_WEIGHT_1"/>
          <p:cNvSpPr txBox="1"/>
          <p:nvPr/>
        </p:nvSpPr>
        <p:spPr>
          <a:xfrm>
            <a:off x="9595699" y="2474516"/>
            <a:ext cx="10384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5C068C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17" name="CRITERION_ROW_2_BG"/>
          <p:cNvSpPr/>
          <p:nvPr/>
        </p:nvSpPr>
        <p:spPr>
          <a:xfrm>
            <a:off x="6999550" y="2986580"/>
            <a:ext cx="3708784" cy="5212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CRITERION_NAME_2"/>
          <p:cNvSpPr txBox="1"/>
          <p:nvPr/>
        </p:nvSpPr>
        <p:spPr>
          <a:xfrm>
            <a:off x="7090990" y="3041444"/>
            <a:ext cx="252197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Criterion name</a:t>
            </a:r>
          </a:p>
        </p:txBody>
      </p:sp>
      <p:sp>
        <p:nvSpPr>
          <p:cNvPr id="19" name="CRITERION_WEIGHT_2"/>
          <p:cNvSpPr txBox="1"/>
          <p:nvPr/>
        </p:nvSpPr>
        <p:spPr>
          <a:xfrm>
            <a:off x="9595699" y="3041444"/>
            <a:ext cx="10384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5C068C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0" name="CRITERION_ROW_3_BG"/>
          <p:cNvSpPr/>
          <p:nvPr/>
        </p:nvSpPr>
        <p:spPr>
          <a:xfrm>
            <a:off x="6999550" y="3553508"/>
            <a:ext cx="3708784" cy="521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CRITERION_NAME_3"/>
          <p:cNvSpPr txBox="1"/>
          <p:nvPr/>
        </p:nvSpPr>
        <p:spPr>
          <a:xfrm>
            <a:off x="7090990" y="3608372"/>
            <a:ext cx="252197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Criterion name</a:t>
            </a:r>
          </a:p>
        </p:txBody>
      </p:sp>
      <p:sp>
        <p:nvSpPr>
          <p:cNvPr id="22" name="CRITERION_WEIGHT_3"/>
          <p:cNvSpPr txBox="1"/>
          <p:nvPr/>
        </p:nvSpPr>
        <p:spPr>
          <a:xfrm>
            <a:off x="9595699" y="3608372"/>
            <a:ext cx="10384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5C068C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3" name="CRITERION_ROW_4_BG"/>
          <p:cNvSpPr/>
          <p:nvPr/>
        </p:nvSpPr>
        <p:spPr>
          <a:xfrm>
            <a:off x="6999550" y="4120436"/>
            <a:ext cx="3708784" cy="5212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CRITERION_NAME_4"/>
          <p:cNvSpPr txBox="1"/>
          <p:nvPr/>
        </p:nvSpPr>
        <p:spPr>
          <a:xfrm>
            <a:off x="7090990" y="4175300"/>
            <a:ext cx="252197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Criterion name</a:t>
            </a:r>
          </a:p>
        </p:txBody>
      </p:sp>
      <p:sp>
        <p:nvSpPr>
          <p:cNvPr id="25" name="CRITERION_WEIGHT_4"/>
          <p:cNvSpPr txBox="1"/>
          <p:nvPr/>
        </p:nvSpPr>
        <p:spPr>
          <a:xfrm>
            <a:off x="9595699" y="4175300"/>
            <a:ext cx="10384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5C068C"/>
                </a:solidFill>
                <a:latin typeface="Open Sans" panose="020B0606030504020204" pitchFamily="34" charset="0"/>
              </a:rPr>
              <a:t>—</a:t>
            </a:r>
          </a:p>
        </p:txBody>
      </p:sp>
      <p:sp>
        <p:nvSpPr>
          <p:cNvPr id="26" name="SOURCE_NOTES"/>
          <p:cNvSpPr txBox="1"/>
          <p:nvPr/>
        </p:nvSpPr>
        <p:spPr>
          <a:xfrm>
            <a:off x="628335" y="5290868"/>
            <a:ext cx="1007999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Sources: document ID and exact locator. Fictional training case.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34569" y="1793942"/>
            <a:ext cx="4278917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600" b="1" i="0" dirty="0">
                <a:solidFill>
                  <a:srgbClr val="FFFFFF"/>
                </a:solidFill>
                <a:latin typeface="Open Sans" panose="020B0606030504020204" pitchFamily="34" charset="0"/>
              </a:rPr>
              <a:t>ARER-300 procurement decision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34569" y="2708342"/>
            <a:ext cx="427891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400" b="0" i="0" dirty="0">
                <a:solidFill>
                  <a:srgbClr val="FFFFFF"/>
                </a:solidFill>
                <a:latin typeface="Open Sans" panose="020B0606030504020204" pitchFamily="34" charset="0"/>
              </a:rPr>
              <a:t>Evaluation Support Agent — working material for verification</a:t>
            </a:r>
          </a:p>
        </p:txBody>
      </p:sp>
      <p:sp>
        <p:nvSpPr>
          <p:cNvPr id="4" name="AUDIENCE"/>
          <p:cNvSpPr txBox="1"/>
          <p:nvPr/>
        </p:nvSpPr>
        <p:spPr>
          <a:xfrm>
            <a:off x="334569" y="1481328"/>
            <a:ext cx="4278917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B9C7E6"/>
                </a:solidFill>
                <a:latin typeface="Open Sans" panose="020B0606030504020204" pitchFamily="34" charset="0"/>
              </a:rPr>
              <a:t>Audience / decision owner</a:t>
            </a:r>
          </a:p>
        </p:txBody>
      </p:sp>
      <p:sp>
        <p:nvSpPr>
          <p:cNvPr id="5" name="SOURCE_NOTES"/>
          <p:cNvSpPr txBox="1"/>
          <p:nvPr/>
        </p:nvSpPr>
        <p:spPr>
          <a:xfrm>
            <a:off x="334569" y="6309360"/>
            <a:ext cx="4278917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Sources: document ID and exact locator. Fictional training case.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8332" y="339452"/>
            <a:ext cx="10080000" cy="4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One clear decision headline</a:t>
            </a:r>
          </a:p>
        </p:txBody>
      </p:sp>
      <p:sp>
        <p:nvSpPr>
          <p:cNvPr id="3" name="AUDIENCE"/>
          <p:cNvSpPr txBox="1"/>
          <p:nvPr/>
        </p:nvSpPr>
        <p:spPr>
          <a:xfrm>
            <a:off x="628332" y="856028"/>
            <a:ext cx="100800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Audience / decision owner</a:t>
            </a:r>
          </a:p>
        </p:txBody>
      </p:sp>
      <p:sp>
        <p:nvSpPr>
          <p:cNvPr id="4" name="SUMMARY"/>
          <p:cNvSpPr txBox="1"/>
          <p:nvPr/>
        </p:nvSpPr>
        <p:spPr>
          <a:xfrm>
            <a:off x="628335" y="1185212"/>
            <a:ext cx="10079999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What is being procured, in plain language.</a:t>
            </a:r>
          </a:p>
        </p:txBody>
      </p:sp>
      <p:sp>
        <p:nvSpPr>
          <p:cNvPr id="5" name="FACT_CARD_1"/>
          <p:cNvSpPr/>
          <p:nvPr/>
        </p:nvSpPr>
        <p:spPr>
          <a:xfrm>
            <a:off x="628335" y="2693972"/>
            <a:ext cx="2348550" cy="14630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FACT_ACCENT_1"/>
          <p:cNvSpPr/>
          <p:nvPr/>
        </p:nvSpPr>
        <p:spPr>
          <a:xfrm>
            <a:off x="628335" y="2693972"/>
            <a:ext cx="2348550" cy="7315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FACT_LABEL_1"/>
          <p:cNvSpPr txBox="1"/>
          <p:nvPr/>
        </p:nvSpPr>
        <p:spPr>
          <a:xfrm>
            <a:off x="792927" y="2922572"/>
            <a:ext cx="201936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Fact label</a:t>
            </a:r>
          </a:p>
        </p:txBody>
      </p:sp>
      <p:sp>
        <p:nvSpPr>
          <p:cNvPr id="8" name="FACT_VALUE_1"/>
          <p:cNvSpPr txBox="1"/>
          <p:nvPr/>
        </p:nvSpPr>
        <p:spPr>
          <a:xfrm>
            <a:off x="792927" y="3260900"/>
            <a:ext cx="201936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Headline value</a:t>
            </a:r>
          </a:p>
        </p:txBody>
      </p:sp>
      <p:sp>
        <p:nvSpPr>
          <p:cNvPr id="9" name="FACT_CARD_2"/>
          <p:cNvSpPr/>
          <p:nvPr/>
        </p:nvSpPr>
        <p:spPr>
          <a:xfrm>
            <a:off x="3205485" y="2693972"/>
            <a:ext cx="2348550" cy="14630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FACT_ACCENT_2"/>
          <p:cNvSpPr/>
          <p:nvPr/>
        </p:nvSpPr>
        <p:spPr>
          <a:xfrm>
            <a:off x="3205485" y="2693972"/>
            <a:ext cx="2348550" cy="7315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FACT_LABEL_2"/>
          <p:cNvSpPr txBox="1"/>
          <p:nvPr/>
        </p:nvSpPr>
        <p:spPr>
          <a:xfrm>
            <a:off x="3370077" y="2922572"/>
            <a:ext cx="201936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Fact label</a:t>
            </a:r>
          </a:p>
        </p:txBody>
      </p:sp>
      <p:sp>
        <p:nvSpPr>
          <p:cNvPr id="12" name="FACT_VALUE_2"/>
          <p:cNvSpPr txBox="1"/>
          <p:nvPr/>
        </p:nvSpPr>
        <p:spPr>
          <a:xfrm>
            <a:off x="3370077" y="3260900"/>
            <a:ext cx="201936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Headline value</a:t>
            </a:r>
          </a:p>
        </p:txBody>
      </p:sp>
      <p:sp>
        <p:nvSpPr>
          <p:cNvPr id="13" name="FACT_CARD_3"/>
          <p:cNvSpPr/>
          <p:nvPr/>
        </p:nvSpPr>
        <p:spPr>
          <a:xfrm>
            <a:off x="5782635" y="2693972"/>
            <a:ext cx="2348550" cy="14630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ACT_ACCENT_3"/>
          <p:cNvSpPr/>
          <p:nvPr/>
        </p:nvSpPr>
        <p:spPr>
          <a:xfrm>
            <a:off x="5782635" y="2693972"/>
            <a:ext cx="2348550" cy="7315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FACT_LABEL_3"/>
          <p:cNvSpPr txBox="1"/>
          <p:nvPr/>
        </p:nvSpPr>
        <p:spPr>
          <a:xfrm>
            <a:off x="5947227" y="2922572"/>
            <a:ext cx="201936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Fact label</a:t>
            </a:r>
          </a:p>
        </p:txBody>
      </p:sp>
      <p:sp>
        <p:nvSpPr>
          <p:cNvPr id="16" name="FACT_VALUE_3"/>
          <p:cNvSpPr txBox="1"/>
          <p:nvPr/>
        </p:nvSpPr>
        <p:spPr>
          <a:xfrm>
            <a:off x="5947227" y="3260900"/>
            <a:ext cx="201936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Headline value</a:t>
            </a:r>
          </a:p>
        </p:txBody>
      </p:sp>
      <p:sp>
        <p:nvSpPr>
          <p:cNvPr id="17" name="FACT_CARD_4"/>
          <p:cNvSpPr/>
          <p:nvPr/>
        </p:nvSpPr>
        <p:spPr>
          <a:xfrm>
            <a:off x="8359784" y="2693972"/>
            <a:ext cx="2348550" cy="14630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FACT_ACCENT_4"/>
          <p:cNvSpPr/>
          <p:nvPr/>
        </p:nvSpPr>
        <p:spPr>
          <a:xfrm>
            <a:off x="8359784" y="2693972"/>
            <a:ext cx="2348550" cy="7315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FACT_LABEL_4"/>
          <p:cNvSpPr txBox="1"/>
          <p:nvPr/>
        </p:nvSpPr>
        <p:spPr>
          <a:xfrm>
            <a:off x="8524376" y="2922572"/>
            <a:ext cx="201936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Fact label</a:t>
            </a:r>
          </a:p>
        </p:txBody>
      </p:sp>
      <p:sp>
        <p:nvSpPr>
          <p:cNvPr id="20" name="FACT_VALUE_4"/>
          <p:cNvSpPr txBox="1"/>
          <p:nvPr/>
        </p:nvSpPr>
        <p:spPr>
          <a:xfrm>
            <a:off x="8524376" y="3260900"/>
            <a:ext cx="201936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Headline value</a:t>
            </a:r>
          </a:p>
        </p:txBody>
      </p:sp>
      <p:sp>
        <p:nvSpPr>
          <p:cNvPr id="21" name="SOURCE_NOTES"/>
          <p:cNvSpPr txBox="1"/>
          <p:nvPr/>
        </p:nvSpPr>
        <p:spPr>
          <a:xfrm>
            <a:off x="628335" y="4522772"/>
            <a:ext cx="1007999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Sources: document ID and exact locator. Fictional training case.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8332" y="339452"/>
            <a:ext cx="10080000" cy="4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What we are buying: the ARER-300 test platform</a:t>
            </a:r>
          </a:p>
        </p:txBody>
      </p:sp>
      <p:sp>
        <p:nvSpPr>
          <p:cNvPr id="3" name="AUDIENCE"/>
          <p:cNvSpPr txBox="1"/>
          <p:nvPr/>
        </p:nvSpPr>
        <p:spPr>
          <a:xfrm>
            <a:off x="628332" y="856028"/>
            <a:ext cx="100800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Executive Approval Committee</a:t>
            </a:r>
          </a:p>
        </p:txBody>
      </p:sp>
      <p:sp>
        <p:nvSpPr>
          <p:cNvPr id="4" name="SUMMARY"/>
          <p:cNvSpPr txBox="1"/>
          <p:nvPr/>
        </p:nvSpPr>
        <p:spPr>
          <a:xfrm>
            <a:off x="628335" y="1185212"/>
            <a:ext cx="10079999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A reliability test chamber that stresses many specimens at once with heat, mechanical load and electrical bias, and records when and how each one fails.</a:t>
            </a:r>
          </a:p>
        </p:txBody>
      </p:sp>
      <p:sp>
        <p:nvSpPr>
          <p:cNvPr id="5" name="FACT_CARD_1"/>
          <p:cNvSpPr/>
          <p:nvPr/>
        </p:nvSpPr>
        <p:spPr>
          <a:xfrm>
            <a:off x="628335" y="2693972"/>
            <a:ext cx="2348550" cy="14630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FACT_ACCENT_1"/>
          <p:cNvSpPr/>
          <p:nvPr/>
        </p:nvSpPr>
        <p:spPr>
          <a:xfrm>
            <a:off x="628335" y="2693972"/>
            <a:ext cx="2348550" cy="7315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FACT_LABEL_1"/>
          <p:cNvSpPr txBox="1"/>
          <p:nvPr/>
        </p:nvSpPr>
        <p:spPr>
          <a:xfrm>
            <a:off x="792927" y="2922572"/>
            <a:ext cx="201936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Capacity</a:t>
            </a:r>
          </a:p>
        </p:txBody>
      </p:sp>
      <p:sp>
        <p:nvSpPr>
          <p:cNvPr id="8" name="FACT_VALUE_1"/>
          <p:cNvSpPr txBox="1"/>
          <p:nvPr/>
        </p:nvSpPr>
        <p:spPr>
          <a:xfrm>
            <a:off x="792927" y="3260900"/>
            <a:ext cx="201936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48 specimens in one run</a:t>
            </a:r>
          </a:p>
        </p:txBody>
      </p:sp>
      <p:sp>
        <p:nvSpPr>
          <p:cNvPr id="9" name="FACT_CARD_2"/>
          <p:cNvSpPr/>
          <p:nvPr/>
        </p:nvSpPr>
        <p:spPr>
          <a:xfrm>
            <a:off x="3205485" y="2693972"/>
            <a:ext cx="2348550" cy="14630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FACT_ACCENT_2"/>
          <p:cNvSpPr/>
          <p:nvPr/>
        </p:nvSpPr>
        <p:spPr>
          <a:xfrm>
            <a:off x="3205485" y="2693972"/>
            <a:ext cx="2348550" cy="7315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FACT_LABEL_2"/>
          <p:cNvSpPr txBox="1"/>
          <p:nvPr/>
        </p:nvSpPr>
        <p:spPr>
          <a:xfrm>
            <a:off x="3370077" y="2922572"/>
            <a:ext cx="201936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Stress ranges</a:t>
            </a:r>
          </a:p>
        </p:txBody>
      </p:sp>
      <p:sp>
        <p:nvSpPr>
          <p:cNvPr id="12" name="FACT_VALUE_2"/>
          <p:cNvSpPr txBox="1"/>
          <p:nvPr/>
        </p:nvSpPr>
        <p:spPr>
          <a:xfrm>
            <a:off x="3370077" y="3260900"/>
            <a:ext cx="201936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−40 to 125 °C, 500 N, 24 V</a:t>
            </a:r>
          </a:p>
        </p:txBody>
      </p:sp>
      <p:sp>
        <p:nvSpPr>
          <p:cNvPr id="13" name="FACT_CARD_3"/>
          <p:cNvSpPr/>
          <p:nvPr/>
        </p:nvSpPr>
        <p:spPr>
          <a:xfrm>
            <a:off x="5782635" y="2693972"/>
            <a:ext cx="2348550" cy="14630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ACT_ACCENT_3"/>
          <p:cNvSpPr/>
          <p:nvPr/>
        </p:nvSpPr>
        <p:spPr>
          <a:xfrm>
            <a:off x="5782635" y="2693972"/>
            <a:ext cx="2348550" cy="7315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FACT_LABEL_3"/>
          <p:cNvSpPr txBox="1"/>
          <p:nvPr/>
        </p:nvSpPr>
        <p:spPr>
          <a:xfrm>
            <a:off x="5947227" y="2922572"/>
            <a:ext cx="201936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Budget ceiling</a:t>
            </a:r>
          </a:p>
        </p:txBody>
      </p:sp>
      <p:sp>
        <p:nvSpPr>
          <p:cNvPr id="16" name="FACT_VALUE_3"/>
          <p:cNvSpPr txBox="1"/>
          <p:nvPr/>
        </p:nvSpPr>
        <p:spPr>
          <a:xfrm>
            <a:off x="5947227" y="3260900"/>
            <a:ext cx="201936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S$450,000 ex GST</a:t>
            </a:r>
          </a:p>
        </p:txBody>
      </p:sp>
      <p:sp>
        <p:nvSpPr>
          <p:cNvPr id="17" name="FACT_CARD_4"/>
          <p:cNvSpPr/>
          <p:nvPr/>
        </p:nvSpPr>
        <p:spPr>
          <a:xfrm>
            <a:off x="8359784" y="2693972"/>
            <a:ext cx="2348550" cy="14630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FACT_ACCENT_4"/>
          <p:cNvSpPr/>
          <p:nvPr/>
        </p:nvSpPr>
        <p:spPr>
          <a:xfrm>
            <a:off x="8359784" y="2693972"/>
            <a:ext cx="2348550" cy="7315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FACT_LABEL_4"/>
          <p:cNvSpPr txBox="1"/>
          <p:nvPr/>
        </p:nvSpPr>
        <p:spPr>
          <a:xfrm>
            <a:off x="8524376" y="2922572"/>
            <a:ext cx="201936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In service</a:t>
            </a:r>
          </a:p>
        </p:txBody>
      </p:sp>
      <p:sp>
        <p:nvSpPr>
          <p:cNvPr id="20" name="FACT_VALUE_4"/>
          <p:cNvSpPr txBox="1"/>
          <p:nvPr/>
        </p:nvSpPr>
        <p:spPr>
          <a:xfrm>
            <a:off x="8524376" y="3260900"/>
            <a:ext cx="201936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8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Jan 2027 to Mar 2030</a:t>
            </a:r>
          </a:p>
        </p:txBody>
      </p:sp>
      <p:sp>
        <p:nvSpPr>
          <p:cNvPr id="21" name="SOURCE_NOTES"/>
          <p:cNvSpPr txBox="1"/>
          <p:nvPr/>
        </p:nvSpPr>
        <p:spPr>
          <a:xfrm>
            <a:off x="628335" y="4522772"/>
            <a:ext cx="1007999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Sources: N/A. Fictional training case.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8332" y="339452"/>
            <a:ext cx="10080000" cy="4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ARER-300 evaluation: gates and scoring criteria</a:t>
            </a:r>
          </a:p>
        </p:txBody>
      </p:sp>
      <p:sp>
        <p:nvSpPr>
          <p:cNvPr id="3" name="AUDIENCE"/>
          <p:cNvSpPr txBox="1"/>
          <p:nvPr/>
        </p:nvSpPr>
        <p:spPr>
          <a:xfrm>
            <a:off x="628332" y="856028"/>
            <a:ext cx="100800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Executive Approval Committee</a:t>
            </a:r>
          </a:p>
        </p:txBody>
      </p:sp>
      <p:sp>
        <p:nvSpPr>
          <p:cNvPr id="4" name="PROBLEM"/>
          <p:cNvSpPr txBox="1"/>
          <p:nvPr/>
        </p:nvSpPr>
        <p:spPr>
          <a:xfrm>
            <a:off x="628335" y="1075484"/>
            <a:ext cx="10079999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The ARER-300 tender (RFQ-ARER-26-014) closed 28 Aug 2026 with five bids.</a:t>
            </a:r>
          </a:p>
        </p:txBody>
      </p:sp>
      <p:sp>
        <p:nvSpPr>
          <p:cNvPr id="5" name="GATES_HEADER"/>
          <p:cNvSpPr txBox="1"/>
          <p:nvPr/>
        </p:nvSpPr>
        <p:spPr>
          <a:xfrm>
            <a:off x="628335" y="2145332"/>
            <a:ext cx="605117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MANDATORY GATES (M1–M7)</a:t>
            </a:r>
          </a:p>
        </p:txBody>
      </p:sp>
      <p:sp>
        <p:nvSpPr>
          <p:cNvPr id="6" name="CRITERIA_HEADER"/>
          <p:cNvSpPr txBox="1"/>
          <p:nvPr/>
        </p:nvSpPr>
        <p:spPr>
          <a:xfrm>
            <a:off x="6999550" y="2145332"/>
            <a:ext cx="370878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WEIGHTED SCORING CRITERIA</a:t>
            </a:r>
          </a:p>
        </p:txBody>
      </p:sp>
      <p:sp>
        <p:nvSpPr>
          <p:cNvPr id="7" name="GATE_LINE_1"/>
          <p:cNvSpPr txBox="1"/>
          <p:nvPr/>
        </p:nvSpPr>
        <p:spPr>
          <a:xfrm>
            <a:off x="628335" y="2419652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M1: Total evaluated price no more than S$450,000 ex GST</a:t>
            </a:r>
          </a:p>
        </p:txBody>
      </p:sp>
      <p:sp>
        <p:nvSpPr>
          <p:cNvPr id="8" name="GATE_LINE_2"/>
          <p:cNvSpPr txBox="1"/>
          <p:nvPr/>
        </p:nvSpPr>
        <p:spPr>
          <a:xfrm>
            <a:off x="628335" y="2803700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M2: Site Acceptance Test complete by 31 Jan 2027</a:t>
            </a:r>
          </a:p>
        </p:txBody>
      </p:sp>
      <p:sp>
        <p:nvSpPr>
          <p:cNvPr id="9" name="GATE_LINE_3"/>
          <p:cNvSpPr txBox="1"/>
          <p:nvPr/>
        </p:nvSpPr>
        <p:spPr>
          <a:xfrm>
            <a:off x="628335" y="3187748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M3: At least 48 specimens per run, full ranges</a:t>
            </a:r>
          </a:p>
        </p:txBody>
      </p:sp>
      <p:sp>
        <p:nvSpPr>
          <p:cNvPr id="10" name="GATE_LINE_4"/>
          <p:cNvSpPr txBox="1"/>
          <p:nvPr/>
        </p:nvSpPr>
        <p:spPr>
          <a:xfrm>
            <a:off x="628335" y="3571796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M4: Raw data exports as CSV/JSON, no vendor lock-in</a:t>
            </a:r>
          </a:p>
        </p:txBody>
      </p:sp>
      <p:sp>
        <p:nvSpPr>
          <p:cNvPr id="11" name="GATE_LINE_5"/>
          <p:cNvSpPr txBox="1"/>
          <p:nvPr/>
        </p:nvSpPr>
        <p:spPr>
          <a:xfrm>
            <a:off x="628335" y="3955844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M5: Price includes installation, SAT, training for 8 staff</a:t>
            </a:r>
          </a:p>
        </p:txBody>
      </p:sp>
      <p:sp>
        <p:nvSpPr>
          <p:cNvPr id="12" name="GATE_LINE_6"/>
          <p:cNvSpPr txBox="1"/>
          <p:nvPr/>
        </p:nvSpPr>
        <p:spPr>
          <a:xfrm>
            <a:off x="628335" y="4339892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M6: Warranty, PM visits, 2-day support through 31 Mar 2030</a:t>
            </a:r>
          </a:p>
        </p:txBody>
      </p:sp>
      <p:sp>
        <p:nvSpPr>
          <p:cNvPr id="13" name="GATE_LINE_7"/>
          <p:cNvSpPr txBox="1"/>
          <p:nvPr/>
        </p:nvSpPr>
        <p:spPr>
          <a:xfrm>
            <a:off x="628335" y="4723940"/>
            <a:ext cx="6051175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1A1A2E"/>
                </a:solidFill>
                <a:latin typeface="Open Sans" panose="020B0606030504020204" pitchFamily="34" charset="0"/>
              </a:rPr>
              <a:t>M7: Only submitted or formally amended claims count at close</a:t>
            </a:r>
          </a:p>
        </p:txBody>
      </p:sp>
      <p:sp>
        <p:nvSpPr>
          <p:cNvPr id="14" name="CRITERION_ROW_1_BG"/>
          <p:cNvSpPr/>
          <p:nvPr/>
        </p:nvSpPr>
        <p:spPr>
          <a:xfrm>
            <a:off x="6999550" y="2419652"/>
            <a:ext cx="3708784" cy="521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CRITERION_NAME_1"/>
          <p:cNvSpPr txBox="1"/>
          <p:nvPr/>
        </p:nvSpPr>
        <p:spPr>
          <a:xfrm>
            <a:off x="7090990" y="2474516"/>
            <a:ext cx="252197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Technical</a:t>
            </a:r>
          </a:p>
        </p:txBody>
      </p:sp>
      <p:sp>
        <p:nvSpPr>
          <p:cNvPr id="16" name="CRITERION_WEIGHT_1"/>
          <p:cNvSpPr txBox="1"/>
          <p:nvPr/>
        </p:nvSpPr>
        <p:spPr>
          <a:xfrm>
            <a:off x="9595699" y="2474516"/>
            <a:ext cx="10384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5C068C"/>
                </a:solidFill>
                <a:latin typeface="Open Sans" panose="020B0606030504020204" pitchFamily="34" charset="0"/>
              </a:rPr>
              <a:t>35%</a:t>
            </a:r>
          </a:p>
        </p:txBody>
      </p:sp>
      <p:sp>
        <p:nvSpPr>
          <p:cNvPr id="17" name="CRITERION_ROW_2_BG"/>
          <p:cNvSpPr/>
          <p:nvPr/>
        </p:nvSpPr>
        <p:spPr>
          <a:xfrm>
            <a:off x="6999550" y="2986580"/>
            <a:ext cx="3708784" cy="5212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CRITERION_NAME_2"/>
          <p:cNvSpPr txBox="1"/>
          <p:nvPr/>
        </p:nvSpPr>
        <p:spPr>
          <a:xfrm>
            <a:off x="7090990" y="3041444"/>
            <a:ext cx="252197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Lifecycle cost</a:t>
            </a:r>
          </a:p>
        </p:txBody>
      </p:sp>
      <p:sp>
        <p:nvSpPr>
          <p:cNvPr id="19" name="CRITERION_WEIGHT_2"/>
          <p:cNvSpPr txBox="1"/>
          <p:nvPr/>
        </p:nvSpPr>
        <p:spPr>
          <a:xfrm>
            <a:off x="9595699" y="3041444"/>
            <a:ext cx="10384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5C068C"/>
                </a:solidFill>
                <a:latin typeface="Open Sans" panose="020B0606030504020204" pitchFamily="34" charset="0"/>
              </a:rPr>
              <a:t>30%</a:t>
            </a:r>
          </a:p>
        </p:txBody>
      </p:sp>
      <p:sp>
        <p:nvSpPr>
          <p:cNvPr id="20" name="CRITERION_ROW_3_BG"/>
          <p:cNvSpPr/>
          <p:nvPr/>
        </p:nvSpPr>
        <p:spPr>
          <a:xfrm>
            <a:off x="6999550" y="3553508"/>
            <a:ext cx="3708784" cy="521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CRITERION_NAME_3"/>
          <p:cNvSpPr txBox="1"/>
          <p:nvPr/>
        </p:nvSpPr>
        <p:spPr>
          <a:xfrm>
            <a:off x="7090990" y="3608372"/>
            <a:ext cx="252197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Delivery &amp; training</a:t>
            </a:r>
          </a:p>
        </p:txBody>
      </p:sp>
      <p:sp>
        <p:nvSpPr>
          <p:cNvPr id="22" name="CRITERION_WEIGHT_3"/>
          <p:cNvSpPr txBox="1"/>
          <p:nvPr/>
        </p:nvSpPr>
        <p:spPr>
          <a:xfrm>
            <a:off x="9595699" y="3608372"/>
            <a:ext cx="10384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5C068C"/>
                </a:solidFill>
                <a:latin typeface="Open Sans" panose="020B0606030504020204" pitchFamily="34" charset="0"/>
              </a:rPr>
              <a:t>20%</a:t>
            </a:r>
          </a:p>
        </p:txBody>
      </p:sp>
      <p:sp>
        <p:nvSpPr>
          <p:cNvPr id="23" name="CRITERION_ROW_4_BG"/>
          <p:cNvSpPr/>
          <p:nvPr/>
        </p:nvSpPr>
        <p:spPr>
          <a:xfrm>
            <a:off x="6999550" y="4120436"/>
            <a:ext cx="3708784" cy="521208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CRITERION_NAME_4"/>
          <p:cNvSpPr txBox="1"/>
          <p:nvPr/>
        </p:nvSpPr>
        <p:spPr>
          <a:xfrm>
            <a:off x="7090990" y="4175300"/>
            <a:ext cx="252197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Service above minimum</a:t>
            </a:r>
          </a:p>
        </p:txBody>
      </p:sp>
      <p:sp>
        <p:nvSpPr>
          <p:cNvPr id="25" name="CRITERION_WEIGHT_4"/>
          <p:cNvSpPr txBox="1"/>
          <p:nvPr/>
        </p:nvSpPr>
        <p:spPr>
          <a:xfrm>
            <a:off x="9595699" y="4175300"/>
            <a:ext cx="10384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5C068C"/>
                </a:solidFill>
                <a:latin typeface="Open Sans" panose="020B0606030504020204" pitchFamily="34" charset="0"/>
              </a:rPr>
              <a:t>15%</a:t>
            </a:r>
          </a:p>
        </p:txBody>
      </p:sp>
      <p:sp>
        <p:nvSpPr>
          <p:cNvPr id="26" name="SOURCE_NOTES"/>
          <p:cNvSpPr txBox="1"/>
          <p:nvPr/>
        </p:nvSpPr>
        <p:spPr>
          <a:xfrm>
            <a:off x="628335" y="5290868"/>
            <a:ext cx="1007999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Sources: N/A. Fictional training case.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ate_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29336" y="336000"/>
            <a:ext cx="10914963" cy="4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Mandatory gate results across all five bids</a:t>
            </a:r>
          </a:p>
        </p:txBody>
      </p:sp>
      <p:sp>
        <p:nvSpPr>
          <p:cNvPr id="3" name="AUDIENCE"/>
          <p:cNvSpPr txBox="1"/>
          <p:nvPr/>
        </p:nvSpPr>
        <p:spPr>
          <a:xfrm>
            <a:off x="629336" y="852576"/>
            <a:ext cx="10914963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Executive Approval Committee</a:t>
            </a:r>
          </a:p>
        </p:txBody>
      </p:sp>
      <p:sp>
        <p:nvSpPr>
          <p:cNvPr id="4" name="RECOMMENDATION_PANEL"/>
          <p:cNvSpPr/>
          <p:nvPr/>
        </p:nvSpPr>
        <p:spPr>
          <a:xfrm>
            <a:off x="629336" y="1090320"/>
            <a:ext cx="10914963" cy="566928"/>
          </a:xfrm>
          <a:prstGeom prst="roundRect">
            <a:avLst>
              <a:gd name="adj" fmla="val 8000"/>
            </a:avLst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OMMENDATION_ACCENT"/>
          <p:cNvSpPr/>
          <p:nvPr/>
        </p:nvSpPr>
        <p:spPr>
          <a:xfrm>
            <a:off x="629336" y="1090320"/>
            <a:ext cx="82296" cy="566928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OMMENDATION"/>
          <p:cNvSpPr txBox="1"/>
          <p:nvPr/>
        </p:nvSpPr>
        <p:spPr>
          <a:xfrm>
            <a:off x="830504" y="1163472"/>
            <a:ext cx="10549203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5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Recommendation: select Northstar, the top-scoring bid at S$348,000 ex GST</a:t>
            </a:r>
          </a:p>
        </p:txBody>
      </p:sp>
      <p:sp>
        <p:nvSpPr>
          <p:cNvPr id="7" name="GATE_TABLE"/>
          <p:cNvSpPr txBox="1"/>
          <p:nvPr/>
        </p:nvSpPr>
        <p:spPr>
          <a:xfrm>
            <a:off x="629336" y="1858416"/>
            <a:ext cx="6767277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MANDATORY COMPLIANCE</a:t>
            </a:r>
          </a:p>
        </p:txBody>
      </p:sp>
      <p:sp>
        <p:nvSpPr>
          <p:cNvPr id="8" name="COMPARISON_CHART"/>
          <p:cNvSpPr txBox="1"/>
          <p:nvPr/>
        </p:nvSpPr>
        <p:spPr>
          <a:xfrm>
            <a:off x="7625213" y="1858416"/>
            <a:ext cx="391908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003087"/>
                </a:solidFill>
                <a:latin typeface="Open Sans" panose="020B0606030504020204" pitchFamily="34" charset="0"/>
              </a:rPr>
              <a:t>SCORES AFTER GATE</a:t>
            </a:r>
          </a:p>
        </p:txBody>
      </p:sp>
      <p:sp>
        <p:nvSpPr>
          <p:cNvPr id="9" name="GATE_HEADER_BG"/>
          <p:cNvSpPr/>
          <p:nvPr/>
        </p:nvSpPr>
        <p:spPr>
          <a:xfrm>
            <a:off x="629336" y="2187600"/>
            <a:ext cx="6767277" cy="237744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GATE_VENDOR_HEADER"/>
          <p:cNvSpPr txBox="1"/>
          <p:nvPr/>
        </p:nvSpPr>
        <p:spPr>
          <a:xfrm>
            <a:off x="739064" y="2215032"/>
            <a:ext cx="189483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VENDOR</a:t>
            </a:r>
          </a:p>
        </p:txBody>
      </p:sp>
      <p:sp>
        <p:nvSpPr>
          <p:cNvPr id="11" name="GATE_STATUS_HEADER"/>
          <p:cNvSpPr txBox="1"/>
          <p:nvPr/>
        </p:nvSpPr>
        <p:spPr>
          <a:xfrm>
            <a:off x="2659519" y="2215032"/>
            <a:ext cx="67672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GATE</a:t>
            </a:r>
          </a:p>
        </p:txBody>
      </p:sp>
      <p:sp>
        <p:nvSpPr>
          <p:cNvPr id="12" name="GATE_REASON_HEADER"/>
          <p:cNvSpPr txBox="1"/>
          <p:nvPr/>
        </p:nvSpPr>
        <p:spPr>
          <a:xfrm>
            <a:off x="3471592" y="2215032"/>
            <a:ext cx="3925021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44546A"/>
                </a:solidFill>
                <a:latin typeface="Open Sans" panose="020B0606030504020204" pitchFamily="34" charset="0"/>
              </a:rPr>
              <a:t>DECISIVE BASIS</a:t>
            </a:r>
          </a:p>
        </p:txBody>
      </p:sp>
      <p:sp>
        <p:nvSpPr>
          <p:cNvPr id="13" name="GATE_ROW_1_BG"/>
          <p:cNvSpPr/>
          <p:nvPr/>
        </p:nvSpPr>
        <p:spPr>
          <a:xfrm>
            <a:off x="629336" y="2471064"/>
            <a:ext cx="6767277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GATE_VENDOR_1"/>
          <p:cNvSpPr txBox="1"/>
          <p:nvPr/>
        </p:nvSpPr>
        <p:spPr>
          <a:xfrm>
            <a:off x="739064" y="2516784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Northstar</a:t>
            </a:r>
          </a:p>
        </p:txBody>
      </p:sp>
      <p:sp>
        <p:nvSpPr>
          <p:cNvPr id="15" name="GATE_STATUS_1"/>
          <p:cNvSpPr txBox="1"/>
          <p:nvPr/>
        </p:nvSpPr>
        <p:spPr>
          <a:xfrm>
            <a:off x="2659519" y="2516784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E8449"/>
                </a:solidFill>
                <a:latin typeface="Open Sans" panose="020B0606030504020204" pitchFamily="34" charset="0"/>
              </a:rPr>
              <a:t>PASS</a:t>
            </a:r>
          </a:p>
        </p:txBody>
      </p:sp>
      <p:sp>
        <p:nvSpPr>
          <p:cNvPr id="16" name="GATE_REASON_1"/>
          <p:cNvSpPr txBox="1"/>
          <p:nvPr/>
        </p:nvSpPr>
        <p:spPr>
          <a:xfrm>
            <a:off x="3471592" y="2516784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M1-M7 satisfied</a:t>
            </a:r>
          </a:p>
        </p:txBody>
      </p:sp>
      <p:sp>
        <p:nvSpPr>
          <p:cNvPr id="17" name="GATE_ROW_2_BG"/>
          <p:cNvSpPr/>
          <p:nvPr/>
        </p:nvSpPr>
        <p:spPr>
          <a:xfrm>
            <a:off x="629336" y="2946552"/>
            <a:ext cx="6767277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GATE_VENDOR_2"/>
          <p:cNvSpPr txBox="1"/>
          <p:nvPr/>
        </p:nvSpPr>
        <p:spPr>
          <a:xfrm>
            <a:off x="739064" y="2992272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Meridian</a:t>
            </a:r>
          </a:p>
        </p:txBody>
      </p:sp>
      <p:sp>
        <p:nvSpPr>
          <p:cNvPr id="19" name="GATE_STATUS_2"/>
          <p:cNvSpPr txBox="1"/>
          <p:nvPr/>
        </p:nvSpPr>
        <p:spPr>
          <a:xfrm>
            <a:off x="2659519" y="2992272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E8449"/>
                </a:solidFill>
                <a:latin typeface="Open Sans" panose="020B0606030504020204" pitchFamily="34" charset="0"/>
              </a:rPr>
              <a:t>PASS</a:t>
            </a:r>
          </a:p>
        </p:txBody>
      </p:sp>
      <p:sp>
        <p:nvSpPr>
          <p:cNvPr id="20" name="GATE_REASON_2"/>
          <p:cNvSpPr txBox="1"/>
          <p:nvPr/>
        </p:nvSpPr>
        <p:spPr>
          <a:xfrm>
            <a:off x="3471592" y="2992272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M1-M7 satisfied</a:t>
            </a:r>
          </a:p>
        </p:txBody>
      </p:sp>
      <p:sp>
        <p:nvSpPr>
          <p:cNvPr id="21" name="GATE_ROW_3_BG"/>
          <p:cNvSpPr/>
          <p:nvPr/>
        </p:nvSpPr>
        <p:spPr>
          <a:xfrm>
            <a:off x="629336" y="3422040"/>
            <a:ext cx="6767277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GATE_VENDOR_3"/>
          <p:cNvSpPr txBox="1"/>
          <p:nvPr/>
        </p:nvSpPr>
        <p:spPr>
          <a:xfrm>
            <a:off x="739064" y="3467760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Helix</a:t>
            </a:r>
          </a:p>
        </p:txBody>
      </p:sp>
      <p:sp>
        <p:nvSpPr>
          <p:cNvPr id="23" name="GATE_STATUS_3"/>
          <p:cNvSpPr txBox="1"/>
          <p:nvPr/>
        </p:nvSpPr>
        <p:spPr>
          <a:xfrm>
            <a:off x="2659519" y="3467760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E8449"/>
                </a:solidFill>
                <a:latin typeface="Open Sans" panose="020B0606030504020204" pitchFamily="34" charset="0"/>
              </a:rPr>
              <a:t>PASS</a:t>
            </a:r>
          </a:p>
        </p:txBody>
      </p:sp>
      <p:sp>
        <p:nvSpPr>
          <p:cNvPr id="24" name="GATE_REASON_3"/>
          <p:cNvSpPr txBox="1"/>
          <p:nvPr/>
        </p:nvSpPr>
        <p:spPr>
          <a:xfrm>
            <a:off x="3471592" y="3467760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M1-M7 satisfied</a:t>
            </a:r>
          </a:p>
        </p:txBody>
      </p:sp>
      <p:sp>
        <p:nvSpPr>
          <p:cNvPr id="25" name="GATE_ROW_4_BG"/>
          <p:cNvSpPr/>
          <p:nvPr/>
        </p:nvSpPr>
        <p:spPr>
          <a:xfrm>
            <a:off x="629336" y="3897528"/>
            <a:ext cx="6767277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GATE_VENDOR_4"/>
          <p:cNvSpPr txBox="1"/>
          <p:nvPr/>
        </p:nvSpPr>
        <p:spPr>
          <a:xfrm>
            <a:off x="739064" y="3943248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Peregrine</a:t>
            </a:r>
          </a:p>
        </p:txBody>
      </p:sp>
      <p:sp>
        <p:nvSpPr>
          <p:cNvPr id="27" name="GATE_STATUS_4"/>
          <p:cNvSpPr txBox="1"/>
          <p:nvPr/>
        </p:nvSpPr>
        <p:spPr>
          <a:xfrm>
            <a:off x="2659519" y="3943248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DA291C"/>
                </a:solidFill>
                <a:latin typeface="Open Sans" panose="020B0606030504020204" pitchFamily="34" charset="0"/>
              </a:rPr>
              <a:t>FAIL</a:t>
            </a:r>
          </a:p>
        </p:txBody>
      </p:sp>
      <p:sp>
        <p:nvSpPr>
          <p:cNvPr id="28" name="GATE_REASON_4"/>
          <p:cNvSpPr txBox="1"/>
          <p:nvPr/>
        </p:nvSpPr>
        <p:spPr>
          <a:xfrm>
            <a:off x="3471592" y="3943248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M3: capacity below requirement</a:t>
            </a:r>
          </a:p>
        </p:txBody>
      </p:sp>
      <p:sp>
        <p:nvSpPr>
          <p:cNvPr id="29" name="GATE_ROW_5_BG"/>
          <p:cNvSpPr/>
          <p:nvPr/>
        </p:nvSpPr>
        <p:spPr>
          <a:xfrm>
            <a:off x="629336" y="4373016"/>
            <a:ext cx="6767277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GATE_VENDOR_5"/>
          <p:cNvSpPr txBox="1"/>
          <p:nvPr/>
        </p:nvSpPr>
        <p:spPr>
          <a:xfrm>
            <a:off x="739064" y="4418736"/>
            <a:ext cx="1785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Aperture</a:t>
            </a:r>
          </a:p>
        </p:txBody>
      </p:sp>
      <p:sp>
        <p:nvSpPr>
          <p:cNvPr id="31" name="GATE_STATUS_5"/>
          <p:cNvSpPr txBox="1"/>
          <p:nvPr/>
        </p:nvSpPr>
        <p:spPr>
          <a:xfrm>
            <a:off x="2659519" y="4418736"/>
            <a:ext cx="676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DA291C"/>
                </a:solidFill>
                <a:latin typeface="Open Sans" panose="020B0606030504020204" pitchFamily="34" charset="0"/>
              </a:rPr>
              <a:t>FAIL</a:t>
            </a:r>
          </a:p>
        </p:txBody>
      </p:sp>
      <p:sp>
        <p:nvSpPr>
          <p:cNvPr id="32" name="GATE_REASON_5"/>
          <p:cNvSpPr txBox="1"/>
          <p:nvPr/>
        </p:nvSpPr>
        <p:spPr>
          <a:xfrm>
            <a:off x="3471592" y="4418736"/>
            <a:ext cx="3925021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M1/M2: over budget and late</a:t>
            </a:r>
          </a:p>
        </p:txBody>
      </p:sp>
      <p:sp>
        <p:nvSpPr>
          <p:cNvPr id="33" name="COMPARISON_BG"/>
          <p:cNvSpPr/>
          <p:nvPr/>
        </p:nvSpPr>
        <p:spPr>
          <a:xfrm>
            <a:off x="7625213" y="2187600"/>
            <a:ext cx="3919086" cy="2660904"/>
          </a:xfrm>
          <a:prstGeom prst="roundRect">
            <a:avLst>
              <a:gd name="adj" fmla="val 8000"/>
            </a:avLst>
          </a:prstGeom>
          <a:solidFill>
            <a:srgbClr val="F8FAF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SCORE_VENDOR_1"/>
          <p:cNvSpPr txBox="1"/>
          <p:nvPr/>
        </p:nvSpPr>
        <p:spPr>
          <a:xfrm>
            <a:off x="7771517" y="2297328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Northstar</a:t>
            </a:r>
          </a:p>
        </p:txBody>
      </p:sp>
      <p:sp>
        <p:nvSpPr>
          <p:cNvPr id="35" name="SCORE_TRACK_1"/>
          <p:cNvSpPr/>
          <p:nvPr/>
        </p:nvSpPr>
        <p:spPr>
          <a:xfrm>
            <a:off x="7771517" y="2544216"/>
            <a:ext cx="2501766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SCORE_BAR_1"/>
          <p:cNvSpPr/>
          <p:nvPr/>
        </p:nvSpPr>
        <p:spPr>
          <a:xfrm>
            <a:off x="7771517" y="2544216"/>
            <a:ext cx="2296621" cy="118872"/>
          </a:xfrm>
          <a:prstGeom prst="roundRect">
            <a:avLst>
              <a:gd name="adj" fmla="val 8000"/>
            </a:avLst>
          </a:prstGeom>
          <a:solidFill>
            <a:srgbClr val="FF67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SCORE_VALUE_1"/>
          <p:cNvSpPr txBox="1"/>
          <p:nvPr/>
        </p:nvSpPr>
        <p:spPr>
          <a:xfrm>
            <a:off x="10319003" y="2498496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91.8</a:t>
            </a:r>
          </a:p>
        </p:txBody>
      </p:sp>
      <p:sp>
        <p:nvSpPr>
          <p:cNvPr id="38" name="SCORE_LABEL_1"/>
          <p:cNvSpPr txBox="1"/>
          <p:nvPr/>
        </p:nvSpPr>
        <p:spPr>
          <a:xfrm>
            <a:off x="7771517" y="2699664"/>
            <a:ext cx="359904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S$348,000 ex GST</a:t>
            </a:r>
          </a:p>
        </p:txBody>
      </p:sp>
      <p:sp>
        <p:nvSpPr>
          <p:cNvPr id="39" name="SCORE_VENDOR_2"/>
          <p:cNvSpPr txBox="1"/>
          <p:nvPr/>
        </p:nvSpPr>
        <p:spPr>
          <a:xfrm>
            <a:off x="7771517" y="3138576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Meridian</a:t>
            </a:r>
          </a:p>
        </p:txBody>
      </p:sp>
      <p:sp>
        <p:nvSpPr>
          <p:cNvPr id="40" name="SCORE_TRACK_2"/>
          <p:cNvSpPr/>
          <p:nvPr/>
        </p:nvSpPr>
        <p:spPr>
          <a:xfrm>
            <a:off x="7771517" y="3385464"/>
            <a:ext cx="2501766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SCORE_BAR_2"/>
          <p:cNvSpPr/>
          <p:nvPr/>
        </p:nvSpPr>
        <p:spPr>
          <a:xfrm>
            <a:off x="7771517" y="3385464"/>
            <a:ext cx="2156522" cy="118872"/>
          </a:xfrm>
          <a:prstGeom prst="roundRect">
            <a:avLst>
              <a:gd name="adj" fmla="val 8000"/>
            </a:avLst>
          </a:prstGeom>
          <a:solidFill>
            <a:srgbClr val="FF67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SCORE_VALUE_2"/>
          <p:cNvSpPr txBox="1"/>
          <p:nvPr/>
        </p:nvSpPr>
        <p:spPr>
          <a:xfrm>
            <a:off x="10319003" y="3339744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86.2</a:t>
            </a:r>
          </a:p>
        </p:txBody>
      </p:sp>
      <p:sp>
        <p:nvSpPr>
          <p:cNvPr id="43" name="SCORE_LABEL_2"/>
          <p:cNvSpPr txBox="1"/>
          <p:nvPr/>
        </p:nvSpPr>
        <p:spPr>
          <a:xfrm>
            <a:off x="7771517" y="3540912"/>
            <a:ext cx="359904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S$391,500 ex GST</a:t>
            </a:r>
          </a:p>
        </p:txBody>
      </p:sp>
      <p:sp>
        <p:nvSpPr>
          <p:cNvPr id="44" name="SCORE_VENDOR_3"/>
          <p:cNvSpPr txBox="1"/>
          <p:nvPr/>
        </p:nvSpPr>
        <p:spPr>
          <a:xfrm>
            <a:off x="7771517" y="3979824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Helix</a:t>
            </a:r>
          </a:p>
        </p:txBody>
      </p:sp>
      <p:sp>
        <p:nvSpPr>
          <p:cNvPr id="45" name="SCORE_TRACK_3"/>
          <p:cNvSpPr/>
          <p:nvPr/>
        </p:nvSpPr>
        <p:spPr>
          <a:xfrm>
            <a:off x="7771517" y="4226712"/>
            <a:ext cx="2501766" cy="118872"/>
          </a:xfrm>
          <a:prstGeom prst="roundRect">
            <a:avLst>
              <a:gd name="adj" fmla="val 8000"/>
            </a:avLst>
          </a:prstGeom>
          <a:solidFill>
            <a:srgbClr val="C7CF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SCORE_BAR_3"/>
          <p:cNvSpPr/>
          <p:nvPr/>
        </p:nvSpPr>
        <p:spPr>
          <a:xfrm>
            <a:off x="7771517" y="4226712"/>
            <a:ext cx="2036438" cy="118872"/>
          </a:xfrm>
          <a:prstGeom prst="roundRect">
            <a:avLst>
              <a:gd name="adj" fmla="val 8000"/>
            </a:avLst>
          </a:prstGeom>
          <a:solidFill>
            <a:srgbClr val="FF67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SCORE_VALUE_3"/>
          <p:cNvSpPr txBox="1"/>
          <p:nvPr/>
        </p:nvSpPr>
        <p:spPr>
          <a:xfrm>
            <a:off x="10319003" y="4180992"/>
            <a:ext cx="56692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n-US" sz="1300" b="1" i="0" dirty="0">
                <a:solidFill>
                  <a:srgbClr val="1A1A2E"/>
                </a:solidFill>
                <a:latin typeface="Open Sans" panose="020B0606030504020204" pitchFamily="34" charset="0"/>
              </a:rPr>
              <a:t>81.4</a:t>
            </a:r>
          </a:p>
        </p:txBody>
      </p:sp>
      <p:sp>
        <p:nvSpPr>
          <p:cNvPr id="48" name="SCORE_LABEL_3"/>
          <p:cNvSpPr txBox="1"/>
          <p:nvPr/>
        </p:nvSpPr>
        <p:spPr>
          <a:xfrm>
            <a:off x="7771517" y="4382160"/>
            <a:ext cx="359904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S$422,000 ex GST</a:t>
            </a:r>
          </a:p>
        </p:txBody>
      </p:sp>
      <p:sp>
        <p:nvSpPr>
          <p:cNvPr id="49" name="DECISION_PANEL"/>
          <p:cNvSpPr/>
          <p:nvPr/>
        </p:nvSpPr>
        <p:spPr>
          <a:xfrm>
            <a:off x="0" y="0"/>
            <a:ext cx="1" cy="1"/>
          </a:xfrm>
          <a:prstGeom prst="roundRect">
            <a:avLst>
              <a:gd name="adj" fmla="val 8000"/>
            </a:avLst>
          </a:prstGeom>
          <a:solidFill>
            <a:srgbClr val="0030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DECISION"/>
          <p:cNvSpPr txBox="1"/>
          <p:nvPr/>
        </p:nvSpPr>
        <p:spPr>
          <a:xfrm>
            <a:off x="830504" y="5113680"/>
            <a:ext cx="10549203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400" b="1" i="0" dirty="0">
                <a:solidFill>
                  <a:srgbClr val="FFFFFF"/>
                </a:solidFill>
                <a:latin typeface="Open Sans" panose="020B0606030504020204" pitchFamily="34" charset="0"/>
              </a:rPr>
              <a:t/>
            </a:r>
          </a:p>
        </p:txBody>
      </p:sp>
      <p:sp>
        <p:nvSpPr>
          <p:cNvPr id="51" name="SOURCE_NOTES"/>
          <p:cNvSpPr txBox="1"/>
          <p:nvPr/>
        </p:nvSpPr>
        <p:spPr>
          <a:xfrm>
            <a:off x="629336" y="5689752"/>
            <a:ext cx="1091496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300" b="0" i="0" dirty="0">
                <a:solidFill>
                  <a:srgbClr val="44546A"/>
                </a:solidFill>
                <a:latin typeface="Open Sans" panose="020B0606030504020204" pitchFamily="34" charset="0"/>
              </a:rPr>
              <a:t>Sources: N/A. Fictional training case.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orporat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3087"/>
      </a:accent1>
      <a:accent2>
        <a:srgbClr val="DA291C"/>
      </a:accent2>
      <a:accent3>
        <a:srgbClr val="FF6720"/>
      </a:accent3>
      <a:accent4>
        <a:srgbClr val="5C068C"/>
      </a:accent4>
      <a:accent5>
        <a:srgbClr val="003087"/>
      </a:accent5>
      <a:accent6>
        <a:srgbClr val="003087"/>
      </a:accent6>
      <a:hlink>
        <a:srgbClr val="003087"/>
      </a:hlink>
      <a:folHlink>
        <a:srgbClr val="003087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STAR Masterbrand Powerpoint Templates 29Nov (Final) (002).potx  -  Read-Only" id="{6BB1E9B8-0CCE-4BA2-95C2-7F4268638456}" vid="{881FA3DF-12EC-4A18-A267-751C4D7C11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Fictional procurement workshop</Application>
  <PresentationFormat>Widescreen</PresentationFormat>
  <Slides>5</Slides>
  <Company>Fictional procurement workshop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Encabulation procurement — decision slide template</dc:title>
  <dc:creator>Fictional procurement workshop</dc:creator>
  <cp:lastModifiedBy>Fictional procurement workshop</cp:lastModifiedBy>
  <cp:revision>1</cp:revision>
</cp:coreProperties>
</file>